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Projeto MOTIVA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Diagnóstico do Cenário Atual (As-Is)</a:t>
            </a:r>
          </a:p>
          <a:p>
            <a:r>
              <a:t>Gestão de CAPEX 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de Negócio: O Peso do CAPEX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núcleo de CAPEX é o motor de crescimento e manutenção das concessões.</a:t>
            </a:r>
          </a:p>
          <a:p>
            <a:pPr lvl="1"/>
            <a:r>
              <a:t>Investimentos de grande escala (Ex: Serra das Araras - R$ 8 bilhões).</a:t>
            </a:r>
          </a:p>
          <a:p>
            <a:pPr lvl="1"/>
            <a:r>
              <a:t>Concessões de longo prazo (até 30 anos) exigem alta governança.</a:t>
            </a:r>
          </a:p>
          <a:p>
            <a:pPr lvl="1"/>
            <a:r>
              <a:t>Decisões atuais impactam décadas de fluxo de caixa.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Metodologia: O Caminho do Diagnóstico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Análise granular e profunda em 6 passos:</a:t>
            </a:r>
          </a:p>
          <a:p>
            <a:pPr lvl="1"/>
            <a:r>
              <a:t>1. Imersão no Negócio (CAPEX)</a:t>
            </a:r>
          </a:p>
          <a:p>
            <a:pPr lvl="1"/>
            <a:r>
              <a:t>2. Organização e Cruzamento de Dados (68 Entrevistas)</a:t>
            </a:r>
          </a:p>
          <a:p>
            <a:pPr lvl="1"/>
            <a:r>
              <a:t>3. Análise Micro via IA (Termos Técnicos)</a:t>
            </a:r>
          </a:p>
          <a:p>
            <a:pPr lvl="1"/>
            <a:r>
              <a:t>4. Mapeamento As-Is (Processos e Regras)</a:t>
            </a:r>
          </a:p>
          <a:p>
            <a:pPr lvl="1"/>
            <a:r>
              <a:t>5. Diagnóstico de Falhas (As 'Doenças')</a:t>
            </a:r>
          </a:p>
          <a:p>
            <a:pPr lvl="1"/>
            <a:r>
              <a:t>6. Consolidação e Reporte Executivo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 de Sistemas: Fragmentação e Silos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Principais sistemas identificados nas entrevistas:</a:t>
            </a:r>
          </a:p>
          <a:p>
            <a:pPr lvl="1"/>
            <a:r>
              <a:t>SAP (ERP/Financeiro)</a:t>
            </a:r>
          </a:p>
          <a:p>
            <a:pPr lvl="1"/>
            <a:r>
              <a:t>Archer (Riscos/Compliance)</a:t>
            </a:r>
          </a:p>
          <a:p>
            <a:pPr lvl="1"/>
            <a:r>
              <a:t>SIC (Investimentos)</a:t>
            </a:r>
          </a:p>
          <a:p>
            <a:pPr lvl="1"/>
            <a:r>
              <a:t>P6/Primavera (Cronograma)</a:t>
            </a:r>
          </a:p>
          <a:p>
            <a:pPr lvl="1"/>
            <a:r>
              <a:t>Excel (A 'Sombra' do Sistema)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Diagnóstico: As 'Doenças' do Ecossistema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Falta de integração entre SAP e ferramentas de engenharia.</a:t>
            </a:r>
          </a:p>
          <a:p>
            <a:pPr/>
            <a:r>
              <a:t>Dependência crítica de Excel para o acompanhamento físico-financeiro.</a:t>
            </a:r>
          </a:p>
          <a:p>
            <a:pPr/>
            <a:r>
              <a:t>Processos manuais de extração de dados gerando retrabalho.</a:t>
            </a:r>
          </a:p>
          <a:p>
            <a:pPr/>
            <a:r>
              <a:t>Ineficiência na rastreabilidade de pleitos e medições.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Evidências de Campo (Recortes Micro)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i="1" sz="1400"/>
            </a:pPr>
            <a:r>
              <a:t>"00:00:53 Cleber ChinelatoOperacional e todos os outros sistemas. Claro que eu trabalho em conjunto com a área de tecnolo..."</a:t>
            </a:r>
          </a:p>
          <a:p>
            <a:pPr>
              <a:spcAft>
                <a:spcPts val="1000"/>
              </a:spcAft>
              <a:defRPr sz="1200"/>
            </a:pPr>
            <a:r>
              <a:t>- None (Integração Falha)</a:t>
            </a:r>
          </a:p>
          <a:p>
            <a:pPr>
              <a:defRPr i="1" sz="1400"/>
            </a:pPr>
            <a:r>
              <a:t>"00:06:05 Cleber ChinelatoEu Sei do projeto, sei do escopo, sei do porquê que a gente tem que fazer o projeto, essa, Inte..."</a:t>
            </a:r>
          </a:p>
          <a:p>
            <a:pPr>
              <a:spcAft>
                <a:spcPts val="1000"/>
              </a:spcAft>
              <a:defRPr sz="1200"/>
            </a:pPr>
            <a:r>
              <a:t>- None (Dor/Gargalo)</a:t>
            </a:r>
          </a:p>
          <a:p>
            <a:pPr>
              <a:defRPr i="1" sz="1400"/>
            </a:pPr>
            <a:r>
              <a:t>"00:06:26 Priscila GalindoNa verdade não é desafio. Hoje a gente tem uma estruturação dentro de rodovias e hoje a gente t..."</a:t>
            </a:r>
          </a:p>
          <a:p>
            <a:pPr>
              <a:spcAft>
                <a:spcPts val="1000"/>
              </a:spcAft>
              <a:defRPr sz="1200"/>
            </a:pPr>
            <a:r>
              <a:t>- None (Dor/Gargalo)</a:t>
            </a:r>
          </a:p>
          <a:p>
            <a:pPr>
              <a:defRPr i="1" sz="1400"/>
            </a:pPr>
            <a:r>
              <a:t>"00:08:23 Priscila GalindoE Vira um gargalo e aí depois também aperta o fornecedor lá na frente também, né?..."</a:t>
            </a:r>
          </a:p>
          <a:p>
            <a:pPr>
              <a:spcAft>
                <a:spcPts val="1000"/>
              </a:spcAft>
              <a:defRPr sz="1200"/>
            </a:pPr>
            <a:r>
              <a:t>- None (Dor/Gargalo)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Preparação para o desenho do 'To-Be':</a:t>
            </a:r>
          </a:p>
          <a:p>
            <a:pPr lvl="1"/>
            <a:r>
              <a:t>Consolidação das regras de negócio por sistema.</a:t>
            </a:r>
          </a:p>
          <a:p>
            <a:pPr lvl="1"/>
            <a:r>
              <a:t>Mapeamento detalhado dos fluxos de 'Req to Pay'.</a:t>
            </a:r>
          </a:p>
          <a:p>
            <a:pPr lvl="1"/>
            <a:r>
              <a:t>Apresentação do diagnóstico para Diretoria de CAPEX.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