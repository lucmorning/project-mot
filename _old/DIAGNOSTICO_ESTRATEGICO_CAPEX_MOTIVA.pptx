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Diagnóstico de CAPEX: Processos e Dados</a:t>
            </a:r>
          </a:p>
        </p:txBody>
      </p:sp>
      <p:sp>
        <p:nvSpPr>
          <p:cNvPr id="3" name="Subtitle 2"/>
          <p:cNvSpPr>
            <a:spLocks noGrp="1"/>
          </p:cNvSpPr>
          <p:nvPr>
            <p:ph type="subTitle" idx="1"/>
          </p:nvPr>
        </p:nvSpPr>
        <p:spPr/>
        <p:txBody>
          <a:bodyPr/>
          <a:lstStyle/>
          <a:p>
            <a:r>
              <a:t>Visão Estratégica de Engenharia de Dados</a:t>
            </a:r>
          </a:p>
          <a:p>
            <a:r>
              <a:t>Projeto MOTIVA - Março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Nossa Lente: Engenharia de Dados Sênior</a:t>
            </a:r>
          </a:p>
        </p:txBody>
      </p:sp>
      <p:sp>
        <p:nvSpPr>
          <p:cNvPr id="3" name="Content Placeholder 2"/>
          <p:cNvSpPr>
            <a:spLocks noGrp="1"/>
          </p:cNvSpPr>
          <p:nvPr>
            <p:ph idx="1"/>
          </p:nvPr>
        </p:nvSpPr>
        <p:spPr/>
        <p:txBody>
          <a:bodyPr wrap="square"/>
          <a:lstStyle/>
          <a:p>
            <a:pPr/>
            <a:r>
              <a:t>Foco na Linhagem do Dado (Data Lineage): Rastreabilidade do campo ao report executivo.</a:t>
            </a:r>
          </a:p>
          <a:p>
            <a:pPr/>
            <a:r>
              <a:t>Identificação de 'ETLs Humanos': Processos manuais de extração, tratamento e carga.</a:t>
            </a:r>
          </a:p>
          <a:p>
            <a:pPr/>
            <a:r>
              <a:t>Diagnóstico de Interoperabilidade: Por que os 25+ sistemas não se comunicam?</a:t>
            </a:r>
          </a:p>
          <a:p>
            <a:pPr/>
            <a:r>
              <a:t>Integridade Sistêmica: Redução de planilhas 'sombra' e silos de informação.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Cadeia de Valor do CAPEX (7 Etapas)</a:t>
            </a:r>
          </a:p>
        </p:txBody>
      </p:sp>
      <p:sp>
        <p:nvSpPr>
          <p:cNvPr id="3" name="Content Placeholder 2"/>
          <p:cNvSpPr>
            <a:spLocks noGrp="1"/>
          </p:cNvSpPr>
          <p:nvPr>
            <p:ph idx="1"/>
          </p:nvPr>
        </p:nvSpPr>
        <p:spPr/>
        <p:txBody>
          <a:bodyPr wrap="square"/>
          <a:lstStyle/>
          <a:p>
            <a:pPr/>
            <a:r>
              <a:t>1. Novos Negócios &amp; Demandas</a:t>
            </a:r>
          </a:p>
          <a:p>
            <a:pPr/>
            <a:r>
              <a:t>2. Orçamento (Budgeting)</a:t>
            </a:r>
          </a:p>
          <a:p>
            <a:pPr/>
            <a:r>
              <a:t>3. Estruturação (Planejamento Físico-Financeiro)</a:t>
            </a:r>
          </a:p>
          <a:p>
            <a:pPr/>
            <a:r>
              <a:t>4. Contratação &amp; Execução (Compras/Aditivos)</a:t>
            </a:r>
          </a:p>
          <a:p>
            <a:pPr/>
            <a:r>
              <a:t>5. Medição (RDO e Boletins)</a:t>
            </a:r>
          </a:p>
          <a:p>
            <a:pPr/>
            <a:r>
              <a:t>6. Tendência (Forecast e Riscos)</a:t>
            </a:r>
          </a:p>
          <a:p>
            <a:pPr/>
            <a:r>
              <a:t>7. Fiscal &amp; Pagamento (NF e Conciliação)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 Labirinto Sistêmico (25+ Aplicações)</a:t>
            </a:r>
          </a:p>
        </p:txBody>
      </p:sp>
      <p:sp>
        <p:nvSpPr>
          <p:cNvPr id="3" name="Content Placeholder 2"/>
          <p:cNvSpPr>
            <a:spLocks noGrp="1"/>
          </p:cNvSpPr>
          <p:nvPr>
            <p:ph idx="1"/>
          </p:nvPr>
        </p:nvSpPr>
        <p:spPr/>
        <p:txBody>
          <a:bodyPr wrap="square"/>
          <a:lstStyle/>
          <a:p>
            <a:pPr/>
            <a:r>
              <a:t>Core: SAP (PS/FI/BW/BPC), Archer, SIC.</a:t>
            </a:r>
          </a:p>
          <a:p>
            <a:pPr/>
            <a:r>
              <a:t>Engenharia: P6, Prisma, Compor 90, Kartado, Fulcrum.</a:t>
            </a:r>
          </a:p>
          <a:p>
            <a:pPr/>
            <a:r>
              <a:t>Suporte: Coupa, Netlex, Flexchain, Docusign, V360, Atlas.</a:t>
            </a:r>
          </a:p>
          <a:p>
            <a:pPr/>
            <a:r>
              <a:t>Sombra: Uso massivo de Excel, SharePoint e Forms como integradores manuais.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Diagnóstico: As 'Doenças' de Dados</a:t>
            </a:r>
          </a:p>
        </p:txBody>
      </p:sp>
      <p:sp>
        <p:nvSpPr>
          <p:cNvPr id="3" name="Content Placeholder 2"/>
          <p:cNvSpPr>
            <a:spLocks noGrp="1"/>
          </p:cNvSpPr>
          <p:nvPr>
            <p:ph idx="1"/>
          </p:nvPr>
        </p:nvSpPr>
        <p:spPr/>
        <p:txBody>
          <a:bodyPr/>
          <a:lstStyle/>
          <a:p/>
          <a:p>
            <a:pPr>
              <a:defRPr b="1" sz="1800"/>
            </a:pPr>
            <a:r>
              <a:t>Quebra de Linhagem</a:t>
            </a:r>
          </a:p>
          <a:p>
            <a:pPr lvl="1">
              <a:defRPr sz="1400"/>
            </a:pPr>
            <a:r>
              <a:t>O dado de medição física no campo (Kartado/RDO) não flui automaticamente para a medição financeira no SAP.</a:t>
            </a:r>
          </a:p>
          <a:p>
            <a:pPr>
              <a:defRPr b="1" sz="1800"/>
            </a:pPr>
            <a:r>
              <a:t>Silos de Informação</a:t>
            </a:r>
          </a:p>
          <a:p>
            <a:pPr lvl="1">
              <a:defRPr sz="1400"/>
            </a:pPr>
            <a:r>
              <a:t>Áreas como 'Riscos' (Archer) e 'Engenharia' (P6) operam com bases de dados dessincronizadas.</a:t>
            </a:r>
          </a:p>
          <a:p>
            <a:pPr>
              <a:defRPr b="1" sz="1800"/>
            </a:pPr>
            <a:r>
              <a:t>Latência Operacional</a:t>
            </a:r>
          </a:p>
          <a:p>
            <a:pPr lvl="1">
              <a:defRPr sz="1400"/>
            </a:pPr>
            <a:r>
              <a:t>Aprovoções dependem de 'Workflows' manuais via e-mail e Teams, fora das trilhas de auditoria sistêmica.</a:t>
            </a:r>
          </a:p>
          <a:p>
            <a:pPr>
              <a:defRPr b="1" sz="1800"/>
            </a:pPr>
            <a:r>
              <a:t>Risco de Governança</a:t>
            </a:r>
          </a:p>
          <a:p>
            <a:pPr lvl="1">
              <a:defRPr sz="1400"/>
            </a:pPr>
            <a:r>
              <a:t>A falta de centralização de memórias de cálculo em projetos de R$ 8 bi aumenta o risco de pleitos indevidos.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1. Novos Negócios &amp; Demandas</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Tiago Esteves: [00:04:02] Só que ainda fé um e com menor nível de assertividade, sem ainda engenharia. Então tudo é paramétrico e a gente já faz todo um valuation orçamento paramétrico. Então, com base nas nossas informações internas, a gente faz um paramétrico porque é, digamos, é uma visão de ordem, de grandeza para a companhia decidir na fé um cara. Esse projeto tem essa cara, esse capex, essa estrutura. Diante dessa, dessa ordem de grandeza, joga fora, não gasta uma energia com isso ou faz sentido estudar? Então, fé um não vê um Você já tem uma projeção que ainda ela é bem paramétrica no material que a Marina trouxe e informações ainda com baixa precisão. Informações estimadas. A empresa decidiu seguir com o estudo no Fel. Dois A gente já vai fazer um investimento para ter uma maior assertividade do CAPEX. Então a gente contrata projeto de engenharia, a gente já investe na engenharia para ter maior assertividade das quantidades. Então, quando eu faço projeto funcional diário, a gente já consegue ter uma tabela de quantidades mais assertiva. A gente já começa a pegar preços mais realistas e dependendo se a gente vai fazer via sofrimentos ou com parceiros, a gente. Já os nossos parceiros, as construtoras, começam a. Diante dessas reuniões, daquelas planilhas que a Marina mostrou e dezenas de reuniões, ela começa a ter um alinhamento, um afunilamento muito grande das dúvidas, uma redução dos riscos. E ela apresenta uma proposta preliminar, já de preço não vinculante e O2O.</a:t>
            </a:r>
          </a:p>
          <a:p>
            <a:pPr lvl="1">
              <a:defRPr sz="1200"/>
            </a:pPr>
            <a:r>
              <a:t>Rebeka Yang Wang   9:36Tá, além disso, eu tenho demandas que eu trato direto com as unidades, não com o corporativo. É aí tem alguns problemas também. É principalmente em relação à padronização. Então, hoje o que acontece? Cada planejamento e controle de unidade.Ele tem alguma diretriz? Ele tem alguma premissa que muitas vezes não se conversam. Então isso é um problema pra gente, assim, da gente ter que fazer tratamentos, exceções para cada planejamento.Principalmente na parte ali de planejamento orçamentário, que a gente faz aí sempre no período de agosto, julho, todos os anos, é, a gente tem essa dificuldade em relação ao que a gente manda, o número sai de nós, a gente manda para eles abertura, projeto a projeto.Mas a carga no prisma, que é o ali onde vai ser o sistema oficial, não é feita por nós. A gente não tem acesso. Então a gente manda uma planilha em Excel, eles sobem a carga, depois eu faço essa validação do que eles subiram. Eu peço para eles me mandarem essa.Essa carga que eles fizeram e muitas vezes não bate. Aí depois a gente vai atrás, entende que houve uma estratégia que alguém solicitou, que foi feito algum ajuste, mas é acaba tendo esse problema ali de comunicação em diversas demandas com as unidades.Esse foi só um exemplo.</a:t>
            </a:r>
          </a:p>
          <a:p>
            <a:pPr lvl="1">
              <a:defRPr sz="1200"/>
            </a:pPr>
            <a:r>
              <a:t>Afranio Nogueira Magalhaes   48:32É.Gustavo.Exatamente. Então ele vai pagar alguma coisa, não vai ser zero. O pleito dele, então vai ser alguma coisa. Como meu pleito é de proposta comercial, é difícil demais derrubar. Então eu começo a demonstrar de forma pragmática. Aí eu se.</a:t>
            </a:r>
          </a:p>
          <a:p>
            <a:pPr lvl="1">
              <a:defRPr sz="1200"/>
            </a:pPr>
            <a:r>
              <a:t>Douglas Pereira de Oliveira Ribeiro   1:32E a Letícia, né? E assim, principalmente nos releases. O release é o documento trimestral de resultados que a gente elabora. Então nesse documento em final de ano, no release do quarto trimestre, além da explicação normal do investimento do trimestre, a gente também dá um guidance.Priscila e Gabriel te dá um uma referência do que seria o orçamento de investimentos para o seguinte, neste momento a gente tem uma interação muito maior do que os outros trimestres, tá? Porque ali eles fazem uma classificação, é quase que manual, assim a equipe faz essa.Uma segregação, posso mandar o quadro para vocês conhecerem depois e a partir desse quadro, diversas explicações são montadas sobre o investimento do ano que está começando. E eu acho que nesse momento, quando a gente precisa detalhar mais, entrar mais no detalhe.É, a gente vê que são várias pessoas envolvidas e a gente não tem uma centralização de informação, uma padronização. É, e acho que muitas vezes o detalhe existe, o nível de detalhe existe, mas muitas vezes a gente recebe a informação e dá muito técnica, muito.Eu diria assim muito de uma linguagem que não é tão familiar, não é tão simples para a gente aqui na área de RI capturar o conteúdo e realmente conseguir usar a informação. Ela muitas vezes vem técnica ou às vezes vem numa granularidade que não é o que a gente precisa, tem que ficar voltando com a demanda algumas vezes.Is.É, e acho que muito por falta da gente ter esse processo mais desenhado, melhor desenhado, é. E também aí, como cada um é que elabora e cada um faz, eles acaba tendo um pouco do estilo de quem responde. Eu percebo um pouco isso.e não um padrão do da área e devolvendo para R do núcleo Pereira que eu diria que esse é o principal ponto e claro uniformidade da informação né Isso é um ponto super sensível aqui para genteDe que esses são os principais pontos que eu vejo, que o assunto perde eficiência muito nesse sentido, a gente acaba tendo muito tempo para chegar a informação final, é e honestamente, aqui a gente acaba não tendo esse tempo todo.Para investir só nesse tema, esse é um dos diversos outros que a gente precisa fechar quando está numa divulgação. Agora eu diria que não é só nesse momento que a interação acontece, tá? A gente também conversa com o núcleo, eventualmente recebeu uma pergunta do mercado, a gente precisa.Pra fazer um trabalho interno, a gente tem muitas vezes dificuldade em base de dados, mas tem problema, eu acho que muito sério em relação a estruturação desses dados para conseguir pegar de forma simples.Eu acho que um ponto que eu não sei se já dá para ir entrando em pontos específicos, tá, mas eu vou, se não for, você me corta, tá? Eu até vou dar um passo atrás. Depois eu vou explicar um pouco quais os materiais a Ribeiro mais.</a:t>
            </a:r>
          </a:p>
          <a:p>
            <a:pPr lvl="1">
              <a:defRPr sz="1200"/>
            </a:pPr>
            <a:r>
              <a:t>Priscila Galindo   46:40Com certeza, porque lá se eu faço uma boa proposta, vai ser difícil alguém contrapor. Eu acho que no pleito são 2 questões, um é o orçamento, que é o que eu previ lá, que às vezes tem muito jogo de planilha, alguma coisa nesse sentido. E depois lá na frente que eu.</a:t>
            </a:r>
          </a:p>
          <a:p>
            <a:pPr lvl="1">
              <a:defRPr sz="1200"/>
            </a:pPr>
            <a:r>
              <a:t>Priscila Galindo   39:49Entendi e Marcela, deixa eu fazer agora, vou para uma próxima pergunta aqui que eu acho que é mais relevante, tá? Então onde, na sua visão, o fluxo de investimentos mais perde a eficiência hoje? Então, assim, dentro da das atividades que você faz hoje e dentro daquilo que você.Faz hoje aonde você acha que, por exemplo, é mais você perde eficiência, tá? Seja por tempo, seja por retrabalho, seja por é demandar um tempo, um tempo grande naquilo, tá? E ou falta de informação que.Talvez você entenda que hoje ainda é óbvio que a gente, vocês estão estruturando, por exemplo, a gestão de riscos ainda está muito incipiente nesse nesse quesito. Então é muito difícil hoje ter lições aprendidas, informações. Então, assim, que você acha que hoje dentro da motiva?É, poderia ser feito ou e que hoje, da maneira que está, é mais complicado e perde a eficiência na no círculo aí da das coisas que você atua?</a:t>
            </a:r>
          </a:p>
          <a:p>
            <a:pPr lvl="1">
              <a:defRPr sz="1200"/>
            </a:pPr>
            <a:r>
              <a:t>ANDRE LUIS TEIXEIRA OLIVEIRA FREITAS   37:35Não é mais manual, hoje é mais manual.Hoje você vou. William, por exemplo, claro, a gente tem o SAP. Aí você puxa informações lá de pagamento, Medição, tudo isso está lá. Mas até chegar na fase do SAP ali, você tem um processo manual que.Que é grande. E até naquela naquela conversa que a gente teve lá na abertura, lá no kikoff, é, eu vi um com bons olhos. A questão de ter uma ferramenta que tenha tudo isso, a gente facilitar tudo isso vai ser bom para todas as Dantas.</a:t>
            </a:r>
          </a:p>
          <a:p>
            <a:pPr lvl="1">
              <a:defRPr sz="1200"/>
            </a:pPr>
            <a:r>
              <a:t>Douglas Pereira de Oliveira Ribeiro   8:26Esses são os materiais que a gente divulga publicamente. A gente tem, como eu falei, histórico de todas as DFs, com essa movimentação de saldo. E muitas vezes a gente se vê com o investidor, com o analista, querendo fazer um de Paula, querendo entender a movimentação histórica de 5, 10, 15 anos.Desse número, então às vezes chega a esse nível de granularidade e a gente tem que levantar informação e como eu falei, aí que fica difícil, tá? Então, esse é o principal ponto. Como eu comentei, o mercado hoje, pelo montante de saldo que nós temos ainda realizar,O mercado tem esse tema como super sensível, tá? Então eu diria que numa classificação aí dos top 5 assuntos que a gente tem com o mercado, eu diria que capex é o primeiro, assim, em termos de atenção do mercado. Então acho que esse.E eles são Priscila assim os principais pontos que que hoje eu vejo como como prioridade até para a gente prioritário para o núcleo conseguir ajudar a gente acaba demandando e a informação muitas vezes também não está com o núcleo de forma centralizada eles vão atrás da informação é e muitas vezes o timea resposta disso né acaba passando demorando um pouco porque a gente sabe que são informações mais difíceis de conseguir então muitas vezes históricos antigos né então a gente sabe que dá mais trabalho mas que de forma mais Ampla são esses</a:t>
            </a:r>
          </a:p>
          <a:p>
            <a:pPr lvl="1">
              <a:defRPr sz="1200"/>
            </a:pPr>
            <a:r>
              <a:t>Adriana Martins dos Santos   6:26Então sim, é, eu vou dar um exemplo até de um investimento. Acho que esse é bom para a gente entender como ele nasce. Então hoje a gente está fazendo um estudo. É lembrando, ele não virou um novo negócio ainda. Ele é um estudo de conceção, de uma extensão da linha 8 até Parelheiros.Então, como que acontece isso? Artesp, ela solicita que a gente faça o estudo aí. É um projeto, projeto básico, executivo, simulação elétrica, demanda, quantidade de trens. É e quando é projeto?Que está relacionado a um negócio existente. Esse projeto fica 100% na Engenharia. A gente tem uma área de novos negócios aqui, mas normalmente os novos negócios que começam por eles são aqueles que não tem relação com o negócio existente.Então a gente faz os estudos, todos eles é, a gente anda com junto com os suprimentos, com toda a parte de valoração, aprovação, apresentação dos projetos. Essa fase muitas vezes pode demorar um ano, um ano e meio, depende o tamanho do projeto. A linha 4 levou 2 anos até efetivamente ela virar um aditivo.E a gente andar com as contratações. E aí a gente faz tanto a gestão técnica, a gestão dos contratos, até que a gente chega em um momento, fala, olha, para a gente fazer uma extensão, vai acontecer. Isso precisa de tanto trens. A gente vai de um bilhão e meio. E isso pode virar um projeto.Nesse caso, ele nasceu do estudo da Engenharia. O outro caso vem de novos negócios. Vai ter um leilão igual acabou de ter um aqui, é e a gente também participa. Então todo o estudo técnico do novo negócio também. Quem faz é o meu time de Engenharia.Tanto o pessoal de sistemas, o pessoal de civil é o pessoal de orçamento. E a gente, dentro do estudo de novo negócio, a gente é responsável para entregar lá para o time de novos negócios, falar, olha, o capex é tanto, a gente vai ter esses parceiros. A gente, inclusive, desenvolve matriz de interface, minuta de contrato.Então, também essa parte contratual com todos os grandes fornecedores, a responsabilidade está dentro da engenharia, com o apoio do jurídico.É aí a gente ainda está. Não ganhamos no negócio nem tivemos aprovação da Artesp para seguir. Tendo essas aprovações, o que eu vou fazer? Eu vou fechar todos os contratos, fazer toda a minuta de contrato, fiança, garantia, contratação do seguro.E efetivamente começar a implementar o Capes. Tanto é. E aí eu dei o exemplo para vocês, comprei trem na China, comprei sinalização na Alemanha, a construtora está aqui no Brasil. E aí a gente tem tanto contratos nacionais como os contratos internacionais.Principalmente dos fabricantes de sistemas.Aconteceu tudo isso, começa efetivamente a gestão do Capex. É qual que é o cuidado que a gente tem em toda a vida da gestão do Capes? É o envolvimento das engenharias de operação e manutenção e dos times de manutenção. Porque no final.Quando você entrega o cap, que seja um trem, seja um sistema elétrico, seja ventilação, quem opera são os times que já estão lá nas estações, que já estão lá nos trens. Então a gente tem vários gates durante esses processos, tanto nos treinamentos, nos manuais e aprovação, para a gente envolver o máximo possível os times operacionais.Para que depois, quando a gente conclua os testes, o comissionamento, a integração, como a gente, principalmente em trilhos, agora a gente vai ter bastante obra com 4 e 5, mas o maior montante nosso é sistemas, é trem, é sistema de ventilação principal, é energia, é subestação.É, você integra tudo com linhas operando. Então a gente dentro da Engenharia aqui, até com esse novo modelo, eu tenho um time só de integração e interface que precisa garantir que tudo aquilo que a gente define lá no começo, tanto no novo negócio.Ou quando a gente está fazendo um estudo no negócio existente, ele se integre com os sistemas existentes e a gente tem sistemas extremamente críticos, que é o sistema de sinalização, que é segurança, sistema de porta de plataforma.É, e aí tem a vida do Capex. Tem vida de 2 anos, de 3 anos, de 5 anos, de 6 anos. A linha 8 e 9. A gente está no quinto ano e ainda a gente tem 2 anos de implantação. Então aí cada um com a sua particularidade e cada negócio com a sua particularidade também.Já que tem negócio que a gente é responsável 100% do capex, outros a gente recebe do estado, mas é responsável pela integração. É. E aí, durante toda essa vida tem envolvimento de todos os times. Então a gente tem vários stakeholders, tanto externo como interno.Que acompanham tudo isso e no final de virar a chave, a gente entrega para a unidade. Então a gente faz os testes, comissiona, tem os certificados de segurança, a gente entrega, acaba a gestão do Capex? Não. A nossa gestão vai a.Até o final da garantia. Então vou dar um exemplo, a gente tem os trens da 8 e 9 que já estão rodando há 1 ano e meio e 2. Quando é que acaba a garantia deles? Só em 2028. O meu time de Engenharia, ele continua até o final.Por quê? Porque depois você tem o processo de retirada de Pendências. Você tem a curva da banheira, onde os sistemas começam a mostrar. Olha, essa interface não funcionou bem, precisa resolver isso. Tem problema de software. A gente tem muito software embarcado nos nossos sistemas, tanto em trem.Sinalização então não é só hardware.É, então a gente fica até esse final, acabou a garantia, pronto. Aí realmente o meu time é. Ele sai de campo, mas a gente continua como backoffice, porque tem vício oculto, tem problema que.Apareceu no teste em fábrica e agora esse problema foi resolvido, mas retornou. A gente faz o desmame, mas não tanto que eu brinco, aí a manutenção. Eu até falo, gente, agora o trem é de vocês. Já estão 10 anos com o trem, mas como a gente tem a expertise, principalmente em sistemas como material rodando e sinais.de Moraes de Moraes de Moraes de Moraes de Moraes de Moraes de Moraes de Moraes de Moraes de Moraes de Moraes de Moraes de Moraes de Moraes de Moraes de Moraes de Moraes de Moraes de Moraes de Moraes de Moraes de Moraes de Moraes de Moraes de Moraes de Moraes de Moraes de Moraes a</a:t>
            </a:r>
          </a:p>
          <a:p>
            <a:pPr lvl="1">
              <a:defRPr sz="1200"/>
            </a:pPr>
            <a:r>
              <a:t>Michel Simoes Araujo   52:43É contornável, é assim. A gente tem um tempo de resposta, geralmente assim é demora 30 dias para a gente colocar tudo no eixo. Alguém acaba tendo na largada um pouco mais de demanda, mas a gente consegue tocar. Mas é complicado, tanto o time do William quanto a gente aqui. Hoje, qualquer pessoa que sai, principalmente nessa esteira, porque a gente tem uma esteira que eu falo que é interminável e incansável.</a:t>
            </a:r>
          </a:p>
          <a:p>
            <a:pPr lvl="1">
              <a:defRPr sz="1200"/>
            </a:pPr>
            <a:r>
              <a:t>Sabrina Santos Pedroso   11:24É, eu vou falar mais no sentido do das dores que a gente sente como área de riscos, principalmente quando a gente questiona métricas para precificação. Então, uma das bases da precificação é dado histórico e a comparabilidade desse dado. Então, assim, uma das coisas que a gente sempre quis responder é a seguinte.É qual é o meu percentual ou meu desvio padrão de acordo com as fases de investimento? Então, a gente espera que o desvio padrão na fase de projeto é funcional, ele seja maior do que um desvio padrão em relação a valores. Quando a gente vai chegando próximo do executivo já contratado, a gente espera que o risco.de variação vai reduzindo no tempo. E é muito difícil para a gente ter esse desvio padrão, digamos assim, de variação, comparável entre projetos, para a gente ter uma métrica. E para a gente saber se quando eu estou indo num processo de novo negócio,Quando eu estou lá precificando as minhas contingências, 5% é muito ou pouco de variação em relação a contingências, é e lá dentro é um pool de riscos. Então a gente gostaria no futuro de olhar os nossos projetos, comparar eles por fases ou de ou comparar ele dentro do nível da EAP. Então, quando?Quando a gente olha, é pavimentação. Quando a gente olha estruturas de Engenharia, OAES, quando a gente olha itens lá, é dentro do orçamento. Eu não sou especialista, tá em Engenharia Civil, mas enfim, quando a gente olha dentro de um de um orçamento.</a:t>
            </a:r>
          </a:p>
          <a:p>
            <a:pPr lvl="1">
              <a:defRPr sz="1200"/>
            </a:pPr>
            <a:r>
              <a:t>Ana Paula Fernandes Dilelle   19:05Ó, prisma OK, todas as unidades que ela faz esse acompanhamento. A Letícia pega essa informação, é consolidada e carrega pra gente lá num SharePoint, dentro da equipe que a gente trabalha com o material do comitê.Só que em paralelo, a Luana faz essa abertura do realizado. Então aí, isso daí é uma atividade de Pinho mesmo, por conta do análise que a gente tem acesso. A gente não tem acesso ao prisma, mas a gente tem acesso ao análise do realizado. Então a Luana vai identificando.</a:t>
            </a:r>
          </a:p>
          <a:p>
            <a:pPr lvl="1">
              <a:defRPr sz="1200"/>
            </a:pPr>
            <a:r>
              <a:t>Juliana Magalhaes Vasconcelos Salomao   14:15É a longo prazo. É algumas deficiências em relação ao próprio projeto em si. Aí tem que sair correndo desesperadamente, porque houve uma avaliação muito rasa do processo, uma avaliação, um termo de referência é muito raso.E que a gente precisa fazer várias revisões aí de um mesmo processo, então ainda essa gestão de demandas dos projetos que a gente tem com poder concedente, uma estruturação de interface madura que a gente consiga fazer uma avaliação em conjunto, eu acho que ainda é um ponto de atenção.A gente tem dificuldade assim, é grande de enxergar isso no próprio SAF, de enxergar isso via PEP, não tem uma estrutura cascateada, é das etapas, das linhas, do que a gente precisa contratar. Então é muito tudo muito raro.Você vai lá numa linha, tem uma linha lá de obras para 2028, mas você não tem todo o cascateamento, toda a estrutura aquela de quando começar a fazer o cronograma reverso. A gente não tem essa visão ainda de uma forma efetiva que nos apoie.Até de estabelecer parcerias, tá? A gente está fazendo agora uma avaliação do capacity dos nossos fornecedores, estudando o mercado. O que é, o que é, o que é concessão nossa, o que é concessão de terceiros? Até para avaliar o quanto isso.Quanto a gente está deficiente de novos fornecedores, da capacidade dele de nos atender. Só que sem essa visão é de todos os projetos que a gente tem, as principais categorias, fica até difícil da gente fazer essa mensuração.</a:t>
            </a:r>
          </a:p>
          <a:p>
            <a:pPr lvl="1">
              <a:defRPr sz="1200"/>
            </a:pPr>
            <a:r>
              <a:t>Lucas Giraldi Rapchan Aguilar   28:08O capex tem uma relevância muito grande, então acho que um desejo dos acionistas de ter uma seguirem se aproximar um pouquinho mais da gestão do capex e ter uma diretoria que se concentrasse nesse assunto específico.Mas eu não vi assim nesses últimos anos um ganho assim, sabe? De daí na existência do dos Santos, que não foi por competência deles ou nada sabe a mais porque a foi idealizado, acho que não atingiu.Não é o seu potencial máximo, aquele que é proposto.Eu acho que eles sofrem igual a gente com a quantidade de ferramentas que tem a distância da informação da ponta até chegar a eles. Então a Fabiana Bernardes pega ali o relatório do SAP, tenta entender e nos questionar as diferenças.Por causa das informações que ela que ela tem acesso, mas até 1000000 de nuances que ela não tem acesso, porque ela não, porque o cara tal colocou na planilha, quer fazer coisa diferente e não tá desenhado direito da contingência. Então assim, entenda o papel que ele.Que foi proposto para ele, mas hoje eu não enxergo que ele tem entregado isso a proposta. Se eu conseguir me expressar bem aqui.</a:t>
            </a:r>
          </a:p>
          <a:p>
            <a:pPr lvl="1">
              <a:defRPr sz="1200"/>
            </a:pPr>
            <a:r>
              <a:t>Elmo Serejo Pithon Copello   36:39É, eu também faço aqui as reuniões semanais com a minha equipe, onde a gente pega os principais projetos e repassa o andamento deles. E nas reuniões com o Andre eu não tenho conseguido, não existia e hoje tá difícil implantar algum tipo de métrica para acompanhar o desempenho dos contratados.Dados é do das entregas dos projetistas. Então, o que a gente tem feito é basicamente é atualização dos avanços. Então a gente tem é um projeto, por exemplo, que estava pendente de definição de algum ponto ou.É algumas disciplinas que precisavam chegar à revisão, aprovar algumas Datas. Marcio, a gente vai criando, a depender da demanda que a gente tem, e a gente vai acompanhando essa evolução e o cumprimento dessas Datas é hoje, é o único, é a única métrica que a gente consegue.Criar é, são essas Datas Marco para a gente poder ir reportando.</a:t>
            </a:r>
          </a:p>
          <a:p>
            <a:pPr lvl="1">
              <a:defRPr sz="1200"/>
            </a:pPr>
            <a:r>
              <a:t>Tiago Esteves: [00:05:28] Aí você já deixa de ser aquela versão mais paramétrica. Lembra que eu comentei no um e aqui já tem uma proposta preliminar de preço com um monte de problema, um monte de assunto, um monte de plano de trabalho a ser feito. A companhia ainda acredita no projeto? Acha que faz sentido? A gente vai pro céu três. No ferro, três Ao fim do ferro três. A gente já tem o número final vinculante, então nós já vamos saber. Assim, o pacote de seis bi de obra da extensão da linha da linha 13 ou dos investimentos de revitalização da linha 11h12. A gente chega ao final do mês com uma proposta firme, que é o que é o produto final do Mou. Lembra que eu comentei com vocês que eu mou. E através do instrumento que a gente vai fazer a relação com o parceiro? Então, nós temos ferramentas diferentes. A gente pode ir através de uma ou com um parceiro para chegar nesse preço final de orçamentação. Ou a gente vai através do processo de suprimentos, que é uma RFP. Você coloca ali todos, todo, todo, todo o escopo, todos os requisitos. Aí você lança no mercado e cria uma concorrência. Os dois caminhos. No final do ferro três, você vai ter um orçamento firme e vinculante. No detalhe, navega com cronograma detalhado, com interface com todas as CPUs previstas, com preços unitários de uma contratação.</a:t>
            </a:r>
          </a:p>
          <a:p>
            <a:pPr lvl="1">
              <a:defRPr sz="1200"/>
            </a:pPr>
            <a:r>
              <a:t>Jorge Rangel Maia   26:25Alexandre.Central.Tem.A demanda demora muito para chegar para mim devido à falta de informação sobre capex, origem de PEP e abertura de requisição. Eu antigamente tocava muito assunto em paralelo e eu travei, porque senão isso aqui virar uma zona, então eles levam mais tempo, às vezes para abrir o PEB para achar o dinheiro do capex do que para eu tocar a demanda.</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 de gestão de riscos, então todos os processos da de gestão de risco.Orientado do nosso procedimento é toda a parte de identificação, é classificação, análise, monitoramento dos riscos, tratamento com as medidas, é preventivas e atenuantes, é.A gente está nessa fase agora porque é uma a Motiva. Hoje ela tem uma diretoria de riscos corporativos, mas é um é um enfoque para a parte financeira do risco. O risco é identificado nas plataformas, porém quando vai para oPara centraliza, é lá na motiva, a diretoria de riscos corporativos. Eles olham o risco como um agressor ao investimento. Então você tem um valor de investimento, uma rodovia, uma linha de metrô.E você tem um risco associado que agride esse investimento por parte aqui da Engenharia de Implantação. Então, dentro da diretoria que eu estou, a gente está querendo mudar um pouco esse conceito e mostrar o risco como é uma forma de você lidar com uma contingência que é determinada. Então.Todos os projetos que estão saindo agora, a gente está fazendo um trabalho bem. É profundo de determinar as contingências que estão envolvidas nesse projeto. Então, uma obra de metrô, ela custa tanto. A gente vai contratar essa obra e a gente vai reservar um valor.Para contingências e o que compõe essa contingência? É o nosso trabalho aqui. São reuniões multidisciplinares, são é rodadas de análise de avaliação desses riscos. Até que a gente chega de um valor. E esse valor ele é.É reservado ao longo do desenvolvimento do projeto para a gente ir gerindo todos aqueles riscos, tendo riscos novos. A gente tem que ver como é que vai tratar. Materializando riscos, a gente tem que ver como que vai tratar. Então isso vai muito a ao encontro do que é.AFPU núcleo de capex tem lá uma rubrica da contingência. Então é basicamente eu faria a determinação dessa contingência por aqui. É a gestão dessa contingência. Ela tem que ter um processo que a gente não tem ainda instituído. Eu acho que é.É uma é uma das dos objetivos aqui e daí? Ao longo do projeto, a minha equipe também faz essa gestão para ir vendo se materializou ou não essas medidas estão funcionando e se tudo der certo, essa contingência sobrevive e vira resultado ou ela é utilizada para os.Isso que estão acontecendo aí. Então, basicamente a parte de gestão de risco é, eu vim para motiva para dar esse enfoque na implantação, então estou construindo isso. Então eu tenho equipes, tenho uma equipe centralizada que fica aqui, que cuida do processo.E eu tenho equipes que estão em cada vertical, então eu tenho equipe na linha 4 demais empreendimentos. A gente está iniciando a linha 5, já estamos vendo como é que vai ser a equipe. E lá essas pessoas vão ficar dedicadas à execução, ao dia a dia do risco, vai ter o fornecedor, o subcontratado que vai ser o responsável.pelo risco dele ali da execução, mas a gente tem que ficar olhando para isso. Então essa é a área de gestão de risco, é a área de gestão contratual. É o que acontecia aqui na Motiva, que pelo menos o que eu a minha percepção é que todo mundo fazia um pouco de gestão contratual, então isso está pulverizado.Você tinha um contrato, ele era assinado e ele ficava com um gestor desse contrato. Então toda a vida do contrato acontecia no âmbito daquele gestor. Então alguém vai contratar uma empresa que vai construir, sei lá, um.Vestiário numa estação.É a pessoa, é, fazia a solicitação, a engenharia, fazia especificação técnica, vai para os momentos, contrata. A partir do momento que contrata esse gestor que pediu esse contrato, ele faz toda a gestão, ele faz as medições.Ele é, fiscaliza esse cara? Ele é, faz aditivos. Então, quando eu cheguei, isso estava totalmente pulverizado, as cartas, as correspondências, os contratos, aditivos, estava tudo em cada uma das verticais, em cada uma da dos gestores.Eu estou agora há 3 meses pegando tudo isso, concentrando tudo aqui para a gente fazer. É um banco de dados grande para a gente ter controle desses contratos, para a gente ter controle das correspondências que são enviadas. Estava assim.Tudo solto, então é, cada um mandava carta do jeito que queria, cada um mandava e-mail, cada um mandava comunicação. Então hoje eu centralizei isso. Todas as cartas passam para o meu setor, são cadastradas, codificadas e são enviadas. Quando são enviadas, a gente deixa no cadastro de resposta ou não, se está com necessidade.De respostas, a gente cobra as respostas, recebe a resposta e distribui para quem é de direito. Então é pra ter um paralelo. Quando eu cheguei, se tinha uma notificação de segurança do trabalho que Era Para Ser feita, o.o responsável por segurança de trabalho da vertical mandava um e-mail para o fornecedor e falava meu senhor você tem que usar EPI e é isso ficava um registro por e-mail sem controle sem nada então hoje o que que eu né a gente instituiu aqui você manda demanda para genteSe você quiser mandar a carta, se você não precisa mandar a carta, a gente redige a carta, mas fica a seu critério. A gente vai processar essa informação, montar uma carta. Se ele mandar a minuto, a gente é padroniza, a gente ajusta. Tudo isso a gente faz os.A coleta de assinatura de quem seja, então, se é uma carta que vai para o poder concedente, a coleta de assinatura é feita através da diretoria, se é uma contrato que é aqui para dentro da Engenharia de Plantação, a gente coleta com o gestor, faz o envio dessa carta, o protocolo e começa a seguir o acompanhamento, então.Hoje eu tenho controle de todas as cartas que saem da Engenharia de Plantação, é tenho o controle dos 263 contratos que a gente tem aqui na Engenharia de Plantação.E a gente vai vendo a evolução agora conforme a necessidade. Então os contratos são todos aqui, é selecionados, visualizados, acompanhados. Tem um aditivo que é para ser feito. Então lá no front vem a necessidade.Passa pra gente, a gente avalia. Se for o caso de consulta jurídico, a gente vai fazendo essa triangulação, é feita a requisição para suprimentos e o aditivo é feito. Então tudo hoje passa pela gente. Aqui é essas coisas, elas é, eu acho assim, tem.Tem coisas que você ganha velocidade descentralizando e tem coisas que se você descentralizar, você perde muito controle. Essa questão da gestão contratual, eu sempre, eu sempre é entendo que os caminhos são meio de via única. Quando você vai falar com o cliente.E quando você vai lá falar com o fornecedor, você pode ter reuniões de trabalho, você pode ter atas que formalizam alguma coisa ali, mas a comunicação é ponto a ponto. A gente tem um representante aqui, o fornecedor ou o cliente ou o poder consciente, tem um tem um representante lá e a gente faz esse canal e tudo isso fica.Mapeado, né? Hoje a gente não tem isso de forma sistêmica, não tem um sistema para usar isso. O processo está instituído, a gente usa muito Excel, usa ferramentas do Teams para questão de uso planner para a gente fazer de trabalho para ver se a carta está atrasada, se não.</a:t>
            </a:r>
          </a:p>
          <a:p>
            <a:pPr lvl="1">
              <a:defRPr sz="1200"/>
            </a:pPr>
            <a:r>
              <a:t>Gustavo Henrique Lucas Jaquie   28:12A gente faz, por exemplo, vou citar um exemplo. A gente trocou muitas e fez até fóruns com um time de rodovia de desapropriação para pegar experiência, trocar experiência. A gente fez um, chamou eles também. Então a gente faz essas trocas.É lógico que assim é isso, tem que ser. É motivado e impulsionado para a gente continuar, porque acaba que a gente tem as demandas e às vezes você acaba é sendo, é atropelado por elas. Mas assim a gente faz assim algumas trocas, isso acho que.Que com essa padronização de Capex, com essa visão, é unificada. Eu acho que cada vez mais isso começa a ficar mais é orgânico, então começa a ser um negócio mais natural. Mas é hoje o conhecimento. Ele acaba sendo muito específico em alguns temas.É, por exemplo, da propensão. Eu consigo fazer isso de uma forma é geral. A hora que a gente entra para a parte metroferroviária, ela acaba sendo bem específica. Aí a hora que eu vou falar de obra de artes, beleza, eu consigo fazer troca com rodovias, mas é então assim para cada.Item é, acaba que a gente tem mais oportunidades ou não. Então, a hora que eu pego, por exemplo, a gente até é teve um trabalho em um dos bids que a gente estava olhando, trazer o pessoal de rodovias para olhar, pô, mas assim um cara de rodovias para olhar uma estação.O cara não tem um conhecimento técnico, uma experiência, bagagem de norma, de metrô, de o que precisa, de requisitos técnicos. Então assim é. Aí a gente até brincou, eu falei, pode trazer. Se tiver alguém lá que tem esse conhecimento, eu até vou, vou gostar, mas assim é um conhecimento que ele tá sendo muito específico.né É como que tem quanto qualquer dimensão de uma plataforma que eu tenho que garantir que a norma pede né então é bem específico é a mesma coisa você chamar o meu time para opinar no pavimento vamos falar meu cara pode ter algum conhecimento mas assim aprofundado ele acaba sendo bem menor</a:t>
            </a:r>
          </a:p>
          <a:p>
            <a:pPr lvl="1">
              <a:defRPr sz="1200"/>
            </a:pPr>
            <a:r>
              <a:t>Priscila Galindo   7:38Da delimitação dentro do dentro do Artur. É isso mesmo que está acontecendo. É só para a gente padronizar as atividades 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2. Orçamento</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Tiago Esteves: [00:04:02] Só que ainda fé um e com menor nível de assertividade, sem ainda engenharia. Então tudo é paramétrico e a gente já faz todo um valuation orçamento paramétrico. Então, com base nas nossas informações internas, a gente faz um paramétrico porque é, digamos, é uma visão de ordem, de grandeza para a companhia decidir na fé um cara. Esse projeto tem essa cara, esse capex, essa estrutura. Diante dessa, dessa ordem de grandeza, joga fora, não gasta uma energia com isso ou faz sentido estudar? Então, fé um não vê um Você já tem uma projeção que ainda ela é bem paramétrica no material que a Marina trouxe e informações ainda com baixa precisão. Informações estimadas. A empresa decidiu seguir com o estudo no Fel. Dois A gente já vai fazer um investimento para ter uma maior assertividade do CAPEX. Então a gente contrata projeto de engenharia, a gente já investe na engenharia para ter maior assertividade das quantidades. Então, quando eu faço projeto funcional diário, a gente já consegue ter uma tabela de quantidades mais assertiva. A gente já começa a pegar preços mais realistas e dependendo se a gente vai fazer via sofrimentos ou com parceiros, a gente. Já os nossos parceiros, as construtoras, começam a. Diante dessas reuniões, daquelas planilhas que a Marina mostrou e dezenas de reuniões, ela começa a ter um alinhamento, um afunilamento muito grande das dúvidas, uma redução dos riscos. E ela apresenta uma proposta preliminar, já de preço não vinculante e O2O.</a:t>
            </a:r>
          </a:p>
          <a:p>
            <a:pPr lvl="1">
              <a:defRPr sz="1200"/>
            </a:pPr>
            <a:r>
              <a:t>00:54:22 Flávio PimentelDe planejamento. Esse manual de planejamento tem que ser anexo em todos os nossos contratos. E aí a gente começa a estabelecer. Então isso é um problema e eu acredito que, é por isso que eu estou dizendo, como o Waldo, Não é de CAPEX, eu não sei se ele vai chegar nesse nível do que ele espera do núcleo, Nessa granularidade. Ele vai falar, ah, eu quero que ele seja eficiente e tal ponto, assim, assim, outro. Mas eu estou dando a minha visão aqui de núcleo, onde que a gente, como CAPEX, precisa entrar. O endereço contratual é um problema muito grande para a gente.</a:t>
            </a:r>
          </a:p>
          <a:p>
            <a:pPr lvl="1">
              <a:defRPr sz="1200"/>
            </a:pPr>
            <a:r>
              <a:t>00:25:42 Marcus RosaQue não está ainda nem no orçamento, porque surgiu alguma ideia, algum problema. Fazendo a captação, tem que começar outros trabalhos. O que eu acho que… E o quarto vem aí, vem outras coisas, tem que captação, tem que garantir o caixa. Então, é um pouco do que falta que é assim, ah não, vamos, executamos o ano. E a Adriana mesmo falou assim, eu acho que é bacana essa droga. Não, durante anos aqui em Crílios foi, a gente faz o orçamento do ano que vem. E depois a gente vê.</a:t>
            </a:r>
          </a:p>
          <a:p>
            <a:pPr lvl="1">
              <a:defRPr sz="1200"/>
            </a:pPr>
            <a:r>
              <a:t>Lucas Giraldi Rapchan Aguilar   16:56Alexandre de Morais de Moraes, a gente faz o nosso financeiro com um relatório que chama da é um relatório da análises que a gente chama.Que é uma planilha de Excel que cara, é uma planilha que exige uma série de tratamentos. Ali você tem que somar uma aba com a outra. Você tem uma série de valores que vem sem.É.Sem um vínculo com nada. Então a gente tem que pegar os valores relevantes, entrar em contato com o pessoal lá do planejamento financeiro da unidade e falar, cara, tem esse valor grande aqui, que é isso aqui, é um caução, isso aqui é um adiantamento que eu fiz, não. A gente teve um ressarcimento de um seguro. Às vezes, a própria unidade de negócio faz um input manual ali no fluxo de caixa que a gente não sabe o que é.Cara, essa de longe é a minha maior dor e a maior, no meu ponto de vista, a maior fragilidade no comitê de Carlos que te apresenta ali. Não sei se você estava no último comitê, Vitor. O lógico começou falando que ele ia apresentar sem ter muita segurança dos valores que ele</a:t>
            </a:r>
          </a:p>
          <a:p>
            <a:pPr lvl="1">
              <a:defRPr sz="1200"/>
            </a:pPr>
            <a:r>
              <a:t>Douglas Pereira de Oliveira Ribeiro   8:26Esses são os materiais que a gente divulga publicamente. A gente tem, como eu falei, histórico de todas as DFs, com essa movimentação de saldo. E muitas vezes a gente se vê com o investidor, com o analista, querendo fazer um de Paula, querendo entender a movimentação histórica de 5, 10, 15 anos.Desse número, então às vezes chega a esse nível de granularidade e a gente tem que levantar informação e como eu falei, aí que fica difícil, tá? Então, esse é o principal ponto. Como eu comentei, o mercado hoje, pelo montante de saldo que nós temos ainda realizar,O mercado tem esse tema como super sensível, tá? Então eu diria que numa classificação aí dos top 5 assuntos que a gente tem com o mercado, eu diria que capex é o primeiro, assim, em termos de atenção do mercado. Então acho que esse.E eles são Priscila assim os principais pontos que que hoje eu vejo como como prioridade até para a gente prioritário para o núcleo conseguir ajudar a gente acaba demandando e a informação muitas vezes também não está com o núcleo de forma centralizada eles vão atrás da informação é e muitas vezes o timea resposta disso né acaba passando demorando um pouco porque a gente sabe que são informações mais difíceis de conseguir então muitas vezes históricos antigos né então a gente sabe que dá mais trabalho mas que de forma mais Ampla são esses</a:t>
            </a:r>
          </a:p>
          <a:p>
            <a:pPr lvl="1">
              <a:defRPr sz="1200"/>
            </a:pPr>
            <a:r>
              <a:t>Luana Aparecida Feliciano de Souza   1:31Tá, esse aqui é o relatório do analysis, tá? Essa aba aqui foi eu que coloquei para puxar o cada PEP. Então cada PEP a gente vai saber através da máscara do PEP a gente sabe aquele pertence. Só que o nosso maior gargalo é que dentro disso.Tem que valores que não está vinculado a PEP nenhum, tá? Então é esse a observação aí que o Luca deixou é sobre sobre essas questões de valores que a gente acaba perdendo, tá? É.Hoje a gente faz o controle do caixa por uma planilha, por uma macro. E aí a gente pega aquele relatório do Analysis, esse aqui que sai do SAP Analysis e vai passando na macro aqui para a gente obter a melhor informação que tem.Então aqui eu sempre coloco análise pura para backup e sempre que eu tiro um relatório, eu sempre salvo como o dia que eu tirei. Por exemplo, esse que eu tirei hoje, tá? Então eu sempre coloco para saber o dia certinho que está ali. Depois essa segunda macro, ela só traz a informação do que é nosso.Hoje, o que é nosso é IOB.EIDL né E no caso da via via Oeste que é entrou como Pi de de Oliveira Oliveira Oliveira da do final da concessão.Então hoje pode ver que os de C OB são todos é ver o tá então aqui também o relatório ele já traz aqui os meses tá então janeiro e fevereiro é sempre que eu tiro o relatóriomostrar esse aqui eu já tiro com o mês então hoje aqui janeiro fevereiro e o março que está acontecendo ainda por hoje ser dia 23 até dia 30 pode sair do caixa é depois disso éEla soma aqui a curva porque ele tem vários peps repetidos, então é ano passado a gente fazia pelo pepe pai, só o controle, mas a pedido dos pebons mesmos, da mesmo da das unidades, a gente abriu por ter essa árvore de.Tem que é de projetos, obras para conseguir ter esse controle. É numa segunda aba, lá do mesmo relatório do análises, tinha essa parte dos tributos e essa parte que a gente fez uma.Um saneamento ali Combinado com o comitê de Cafex, tá? Então é, foi o que aconteceu com o núcleo isso? Comitê não com o núcleo de Cafex. Desculpa, é. Então a gente vai passar não olhar isso, tá?A essa parte dos tributos e dentro do relatório do único relatório, a gente vai olhar mais profundamente esses hashtag.</a:t>
            </a:r>
          </a:p>
          <a:p>
            <a:pPr lvl="1">
              <a:defRPr sz="1200"/>
            </a:pPr>
            <a:r>
              <a:t>Vitor Pryzbeuka   32:37Maravilha. A gente está fazendo alguns desenhos de fluxo de informação, principalmente os que alimentam o Comitê de Capex que a gente entende que hoje o comitê é uma reunião que ele é.E ele tem a sua, como eu posso dizer, ele tem um potencial para ser uma reunião muito importante para a companhia. Hoje, talvez a gente tenha a possibilidade de melhoria lá para que a gente possa de fato ter uma reunião que vai trazer mais valor para a companhia no sentido de tomar decisões importantes lá deTrazer, usar o momento para de fato acionar a cadeia de ajuda. E só que hoje também é uma reunião muito custosa para os times, né? Todo mundo tem que gerar muita informação, muita promoção manual. Um dos objetivos do nosso trabalho é entender o que de fato está.</a:t>
            </a:r>
          </a:p>
          <a:p>
            <a:pPr lvl="1">
              <a:defRPr sz="1200"/>
            </a:pPr>
            <a:r>
              <a:t>Cesar Sampaio de Castro   33:14Cardoso, exemplo, orçamento, o último que me veio na cabeça aqui, sei lá, chegou um e-mail do pessoal da Letícia falando assim a Cezar Cezar não pessoal, para fins de orçamento, vamos atualizar o caixa de janeiro conforme o real de dezembro. Até então, essa era uma premissa financeira que não.Não poderia ter essa atualização, eu não poderia mudar o meu caixa. Tudo que eu tivesse feito antes era aquilo. Se eu tivesse gastado a mais e tivesse um caixa a mais, era estouro de orçamento. Aí a gente, putz, mas espera aí, veio uma premissa dessa, deixa eu ver melhor se é isso mesmo. Aí a gente ia conversar com Trilhos. Aí o diretor de Trilhos falava assim.Não, essa premissa não vale aqui. Aqui vocês não vão mudar. Mas o corporativo que mandou não, mas então pra gente não vale. Putz, então espera aí. Então às vezes, como você tem diretorias financeiras de núcleo do capex, às vezes o núcleo do capex dá uma diretriz, a gente fica assim, putz, será que é mesmo? Será que o financeiro está sabendo? E às vezes o financeiro.Da uni da plataforma ou do corporativo, não está? Eu sei que a Bichu Teixeira tem aumentado mais essas interfaces porque eu já falei isso porque ela falou assim, gente, a gente às vezes só recebe diretrizes conflitantes de vocês. A gente fica maluco, não, a gente vai começar a alinhar mais, só que vira e mexe você cai nisso, porque você não tem uma única área, esse é o ponto, tá? Você não tem uma única área.Dona do processo do Carlos, existe a área financeira e existe o núcleo, tá? Então assim, às vezes você pode ter diretrizes conflitantes entre elas. Isso para mim é um risco, tá? É outro ponto que é o que eu falei.Já falei para vocês, eu acho que o núcleo do capé que estava muito focado ali no output, na casca do material, e eu acho que tem oportunidade para ele ter um corpo maior de metodologia, por exemplo, é uma dor geral de todo mundo caixa.Alcaixa.Passou um tempão e não mudou, entendeu? Eu sei que a Bia tem, às vezes ela falou, não, eu tenho uma ideia de fazer, mas assim não conseguiu. Pô, faltou força, faltou time, faltou para criar um processo do caixa. É então assim, dores que são gerais de todo mundo, uma ferramenta para o caixa e tal. Isso assim a gente não tinha o Luca.Não estava tendo força de implementar isso, sabe? Eu pedi para elas, por exemplo, pessoal, a gente reporta para trilhos, reporta para rodovias e para vocês não faz sentido ser um lugar único. Elas não tiveram também tipo força de ir lá e falar assim, gente, é uma só, porque o.Trilhos gritava rodovias gritava e a gente atendia então eu falava muito isso que eles falou assim pô gente se vocês são a referência de Carla que vocês tem que botar o pé na porta e não é e decidir tal a gente sente falta disso eu acho que agora o mandato mudou tá eu já percebi isso acho que com a chegada do Valdo naComo vice-presidente, o discurso já mudou. O Valdo já deu um track assim, nós vamos ser mais atuantes e mais decisivos nas coisas. Eu falei, cara, que bom, é isso que estava faltando. Então eu já acho que o Valdo já veio com essa missão de ser mais impositivo.O núcleo do capex, ele era menos impositivo, sabe? Ele que beleza, ele criava os padrões, mas cada um se virava do seu jeito. Eu acho que agora o próprio Valdo está puxando para ele o projeto capex ali. Eu não quero saber o que vocês me falam, as necessidades, mas a gente é que vai.Vitoriar isso aqui decidir achei ótimo beleza agora temos um grande decisor Centralizado para fazer as coisas é então eu acho que é um ponto que eu colocaria como melhoria mas eu já acho que o Valdo já veio com essa missão e acho que vai ser bom sabe nesse sentido</a:t>
            </a:r>
          </a:p>
          <a:p>
            <a:pPr lvl="1">
              <a:defRPr sz="1200"/>
            </a:pPr>
            <a:r>
              <a:t>Romulo Nagumo   6:48Perfeito. Acho que um primeiro ponto é que tem muitos projetos em paralelo para fazer essa melhoria de Capex. Não sei se vocês pegaram isso aqui também. A gente mapeou 1234-567 projetos já alinhados. É que tem sinergia e que já foram paralisado para fazer.</a:t>
            </a:r>
          </a:p>
          <a:p>
            <a:pPr lvl="1">
              <a:defRPr sz="1200"/>
            </a:pPr>
            <a:r>
              <a:t>01:17:25 Fabiana AbritaDe valor, então contrata a engenharia de valor para a gente poder fazer, tá bom? Então, gente, é assim, ó, é um HH aqui disponível pra vocês, além do que vocês já fazem, Porque é arroz com feijão de vocês, e é, eles fazem, entendeu? Agora, assim, então é isso, e de verdade, assim, não tem grandes coisas técnicas que eles deixaram de ver, Só que agora começa a ficar cada vez mais difícil, porque acaba que, assim, não vê isso que eu tô vendo, Não vê isso que eu tô vendo, então a variz marcial fica coitada com nada pra ver.</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 de gestão de riscos, então todos os processos da de gestão de risco.Orientado do nosso procedimento é toda a parte de identificação, é classificação, análise, monitoramento dos riscos, tratamento com as medidas, é preventivas e atenuantes, é.A gente está nessa fase agora porque é uma a Motiva. Hoje ela tem uma diretoria de riscos corporativos, mas é um é um enfoque para a parte financeira do risco. O risco é identificado nas plataformas, porém quando vai para oPara centraliza, é lá na motiva, a diretoria de riscos corporativos. Eles olham o risco como um agressor ao investimento. Então você tem um valor de investimento, uma rodovia, uma linha de metrô.E você tem um risco associado que agride esse investimento por parte aqui da Engenharia de Implantação. Então, dentro da diretoria que eu estou, a gente está querendo mudar um pouco esse conceito e mostrar o risco como é uma forma de você lidar com uma contingência que é determinada. Então.Todos os projetos que estão saindo agora, a gente está fazendo um trabalho bem. É profundo de determinar as contingências que estão envolvidas nesse projeto. Então, uma obra de metrô, ela custa tanto. A gente vai contratar essa obra e a gente vai reservar um valor.Para contingências e o que compõe essa contingência? É o nosso trabalho aqui. São reuniões multidisciplinares, são é rodadas de análise de avaliação desses riscos. Até que a gente chega de um valor. E esse valor ele é.É reservado ao longo do desenvolvimento do projeto para a gente ir gerindo todos aqueles riscos, tendo riscos novos. A gente tem que ver como é que vai tratar. Materializando riscos, a gente tem que ver como que vai tratar. Então isso vai muito a ao encontro do que é.AFPU núcleo de capex tem lá uma rubrica da contingência. Então é basicamente eu faria a determinação dessa contingência por aqui. É a gestão dessa contingência. Ela tem que ter um processo que a gente não tem ainda instituído. Eu acho que é.É uma é uma das dos objetivos aqui e daí? Ao longo do projeto, a minha equipe também faz essa gestão para ir vendo se materializou ou não essas medidas estão funcionando e se tudo der certo, essa contingência sobrevive e vira resultado ou ela é utilizada para os.Isso que estão acontecendo aí. Então, basicamente a parte de gestão de risco é, eu vim para motiva para dar esse enfoque na implantação, então estou construindo isso. Então eu tenho equipes, tenho uma equipe centralizada que fica aqui, que cuida do processo.E eu tenho equipes que estão em cada vertical, então eu tenho equipe na linha 4 demais empreendimentos. A gente está iniciando a linha 5, já estamos vendo como é que vai ser a equipe. E lá essas pessoas vão ficar dedicadas à execução, ao dia a dia do risco, vai ter o fornecedor, o subcontratado que vai ser o responsável.pelo risco dele ali da execução, mas a gente tem que ficar olhando para isso. Então essa é a área de gestão de risco, é a área de gestão contratual. É o que acontecia aqui na Motiva, que pelo menos o que eu a minha percepção é que todo mundo fazia um pouco de gestão contratual, então isso está pulverizado.Você tinha um contrato, ele era assinado e ele ficava com um gestor desse contrato. Então toda a vida do contrato acontecia no âmbito daquele gestor. Então alguém vai contratar uma empresa que vai construir, sei lá, um.Vestiário numa estação.É a pessoa, é, fazia a solicitação, a engenharia, fazia especificação técnica, vai para os momentos, contrata. A partir do momento que contrata esse gestor que pediu esse contrato, ele faz toda a gestão, ele faz as medições.Ele é, fiscaliza esse cara? Ele é, faz aditivos. Então, quando eu cheguei, isso estava totalmente pulverizado, as cartas, as correspondências, os contratos, aditivos, estava tudo em cada uma das verticais, em cada uma da dos gestores.Eu estou agora há 3 meses pegando tudo isso, concentrando tudo aqui para a gente fazer. É um banco de dados grande para a gente ter controle desses contratos, para a gente ter controle das correspondências que são enviadas. Estava assim.Tudo solto, então é, cada um mandava carta do jeito que queria, cada um mandava e-mail, cada um mandava comunicação. Então hoje eu centralizei isso. Todas as cartas passam para o meu setor, são cadastradas, codificadas e são enviadas. Quando são enviadas, a gente deixa no cadastro de resposta ou não, se está com necessidade.De respostas, a gente cobra as respostas, recebe a resposta e distribui para quem é de direito. Então é pra ter um paralelo. Quando eu cheguei, se tinha uma notificação de segurança do trabalho que Era Para Ser feita, o.o responsável por segurança de trabalho da vertical mandava um e-mail para o fornecedor e falava meu senhor você tem que usar EPI e é isso ficava um registro por e-mail sem controle sem nada então hoje o que que eu né a gente instituiu aqui você manda demanda para genteSe você quiser mandar a carta, se você não precisa mandar a carta, a gente redige a carta, mas fica a seu critério. A gente vai processar essa informação, montar uma carta. Se ele mandar a minuto, a gente é padroniza, a gente ajusta. Tudo isso a gente faz os.A coleta de assinatura de quem seja, então, se é uma carta que vai para o poder concedente, a coleta de assinatura é feita através da diretoria, se é uma contrato que é aqui para dentro da Engenharia de Plantação, a gente coleta com o gestor, faz o envio dessa carta, o protocolo e começa a seguir o acompanhamento, então.Hoje eu tenho controle de todas as cartas que saem da Engenharia de Plantação, é tenho o controle dos 263 contratos que a gente tem aqui na Engenharia de Plantação.E a gente vai vendo a evolução agora conforme a necessidade. Então os contratos são todos aqui, é selecionados, visualizados, acompanhados. Tem um aditivo que é para ser feito. Então lá no front vem a necessidade.Passa pra gente, a gente avalia. Se for o caso de consulta jurídico, a gente vai fazendo essa triangulação, é feita a requisição para suprimentos e o aditivo é feito. Então tudo hoje passa pela gente. Aqui é essas coisas, elas é, eu acho assim, tem.Tem coisas que você ganha velocidade descentralizando e tem coisas que se você descentralizar, você perde muito controle. Essa questão da gestão contratual, eu sempre, eu sempre é entendo que os caminhos são meio de via única. Quando você vai falar com o cliente.E quando você vai lá falar com o fornecedor, você pode ter reuniões de trabalho, você pode ter atas que formalizam alguma coisa ali, mas a comunicação é ponto a ponto. A gente tem um representante aqui, o fornecedor ou o cliente ou o poder consciente, tem um tem um representante lá e a gente faz esse canal e tudo isso fica.Mapeado, né? Hoje a gente não tem isso de forma sistêmica, não tem um sistema para usar isso. O processo está instituído, a gente usa muito Excel, usa ferramentas do Teams para questão de uso planner para a gente fazer de trabalho para ver se a carta está atrasada, se não.</a:t>
            </a:r>
          </a:p>
          <a:p>
            <a:pPr lvl="1">
              <a:defRPr sz="1200"/>
            </a:pPr>
            <a:r>
              <a:t>Priscila Galindo   11:00E também ter essa interface, ela ser mapeada e determinar limite de bateria de uma de outra. Quem é responsável pelo quê? E também de Datas de compromisso, por exemplo, se a gente precisa gerar dados para engenho de alguma forma que eu acho que é muito difícil, eu acho que talvez.É mais da Verum se aproveitar de entrevistas e de mapeamentos que a própria engenho já trouxe. Vamos dizer assim que eu acho que é mais a gente sendo alimentado pela engenho do que o contrário. Eu acho que a engenho, óbvio, ela pode se aproveitar.E algumas coisas que a gente já mapeou, talvez um pouco mais para cima, porque a Engenharia ela, vamos dizer assim, na pelo que eu entendi, tá? Não olhei ainda o relatório deles, mas foi mais voltado para realmente a parte operacional. Então dali até chegar no núcleo de Capex, talvez tenha uma vertente que a gente.A gente possa, de alguma forma, complementar a engenho, mas eu vejo nesse sentido, porque aí dá o nosso viés, é ao contrário, a gente entender a engenho que ela encontrou a aqui embaixo, no operacional, vamos dizer assim, na parte de operacionalização e tipo, como é que a gente consegue trazer isso para o núcleo de Capex para a gente conseguir fazer?Uma célula com mais é integração, uma análise de dados mais respaldada, porque eu acho que no final do dia é isso, o nosso, o escopo como um todo é como é que a gente deixa o núcleo de capa mais estratégico hoje?</a:t>
            </a:r>
          </a:p>
          <a:p>
            <a:pPr lvl="1">
              <a:defRPr sz="1200"/>
            </a:pPr>
            <a:r>
              <a:t>Jorge Rangel Maia   11:01Pouquíssimo. Hoje eu tenho pouquíssimo contato com eles. Hoje eu tenho pouquíssimo contato com eles. É, eu falo muito com um núcleo paralelo de capex, que fica dentro da engenharia, que é a minha cliente.</a:t>
            </a:r>
          </a:p>
          <a:p>
            <a:pPr lvl="1">
              <a:defRPr sz="1200"/>
            </a:pPr>
            <a:r>
              <a:t>Joao Pedro Almeida da Rocha Pita   18:43Nós ainda fazemos muita manutenção através de manuais. Então se manda fazer manutenção a cada 100 mil horas você faz a cada 100 mil horas ou a cada 100 mil quilómetros, não interessa a mentira. Eu acho que a gente tem que sensorizar mais, ter mais Analytics para que a gente possaPreditivo e eu consiga fazer a manutenção quando realmente é preciso e não somente quando no manual manda. É isso tem um ganho no ciclo de vida dos equipamentos e da e das peças e dos componentes.Também vai ser um saving e, portanto, um aumento não é da do VPL dos negócios da Tiago dos próprios projetos. Eu acho que eu diria essas 2 coisas, não é na área da construção pesada, como é que nós conseguimos trazer novos equipamentos, novos ensinamentos, novos materiais. Acho que essa engenharia de materiais, ela é uma engenharia.Que tem evoluído muito com questões de carbono, polímeros, enfim, várias coisas. E na área da manutenção também é uma área super pesada que nós temos, seja em trilhos, seja em rodovias. A gente poder mais ser mais preditivo, então.ter dados, mensurar os dados e depois aplicar esses dados, mas estão eficientes a manutenção tem um alto impacto em Capex, então só em manutenção em trilhos por ano, são mais de 600 milhões, roda entre 600 e bilhão e em rodovias é mais ainda, então qualquer 6-25 a 10%, estamos aAqui de um saving muito significativo.Não sei se respondi à vossa pergunta, se tem algum.</a:t>
            </a:r>
          </a:p>
          <a:p>
            <a:pPr lvl="1">
              <a:defRPr sz="1200"/>
            </a:pPr>
            <a:r>
              <a:t>Rebeka Yang Wang   16:41De geração de pedido, coisas, processos antigos é que depois foram feita melhorias, mas ficaram ainda alguns processos antigos que eu tenho valores de compromisso duplicado, então mesmo compromisso ele aparece em requisição em pedido.O que não pode acontecer. Uma vez que eu fecho o pedido, a requisição tem que zerar e ele fica duplicado. Contratos ali que de repente eu paralisei, fiz um destrato, ele ainda continua em compromisso. Então tem uma série de problemas ali que vão fazendo se necessário esse tratamento manual.Porque se eu pegar e extrair ele da forma que tá e usar, eu não chego no número.</a:t>
            </a:r>
          </a:p>
          <a:p>
            <a:pPr lvl="1">
              <a:defRPr sz="1200"/>
            </a:pPr>
            <a:r>
              <a:t>Joao Pedro Almeida da Rocha Pita   43:48Nada.Espera eu talvez eu rematasse desta maneira, não é? Eu já trabalhei em áreas técnicas, não é? Já fui planejamento estratégico responsável pelo desenvolvimento de da área operacional da capacidade de Guarulhos, não com o capex em Guarulhos, no aeroporto.Já fiz new Business e área comercial. Eu acho que assim ninguém faz obra ou deveria fazer por fazer essa obra tem um objetivo.A gente está a ter o custo mais racional para o objetivo desta obra. Ponto de interrogação, se sim, ótimo.Senão façamos aquilo que é o mais assertivo, não é? Eu estou a fazer uma estação. Qual é o objetivo da minha estação que o passageiro consiga chegar no trem? Mas além disso, é o quê? Gerar o maior negócio possível nessa estação, sem comprometer o primeiro passo que eu falei antes, não é?Ou seja, ele tem que ser capaz de apanhar o trem óbvio, não é? Eu Não posso pôr uma escada rolante virada para a Parede que o passageiro vai se formar uma fila contra a Parede, óbvio também. Agora, se a escada rolante pode ser no final da estação e ele passar pela área comercial ou for no início da estação e a área comercial ficar sem ninguém, porque ninguém passa lá porque A Escada é antes.ISTO são boas práticas de uma empresa privada que têm que ser postas em prática. Este exemplo de novo muito tosco, mas acontece aqui em que há uma escada rolante antes da área comercial. Ora, isso não deveria acontecer mais numa empresa privada.Então este repensamento, eu acho que ele é importante. Qual é o objetivo do Capex? Gerar retorno.Como é que isso acontece? Um capex mais ligeiro dentro das normas que permitem um opex menor ao lindo ciclo de vida e que gere mais receita, OK? E estas perguntas têm de ser constantemente feitas no capex, que é aprovado.</a:t>
            </a:r>
          </a:p>
          <a:p>
            <a:pPr lvl="1">
              <a:defRPr sz="1200"/>
            </a:pPr>
            <a:r>
              <a:t>Natalia Emy Orita Krutzsch   20:06Então assim, o meu gancho é o mesmo, só que para a meta capex eu recorto só 2026, como se o projeto estivesse um recorte dele em 2026. Então por isso que eu estou te perguntando O Tempo que eu levo produzindo RGPS, R G Es beleza, faz sentido a questão das informações críticas que eu tenho, as informações, os pontos relevantes que eu tenho dentro desses materiais.Que vão dar subsídio para saber o que eu vou subir para o comitê capex ou alguma coisa do tipo. Mas a produção do material em si do comitê capex é diferente da RG e a Rocha e GP, porque tudo é extremamente Mourão se a esse o ponto que você queria chegar. Tudo é extremamente manual e leva muito tempo.</a:t>
            </a:r>
          </a:p>
          <a:p>
            <a:pPr lvl="1">
              <a:defRPr sz="1200"/>
            </a:pPr>
            <a:r>
              <a:t>Michele Janaina Dick Romano   5:56É o dinheiro carimbado inicial. Ele já existe, mas depois o que é complemento a gente precisa além do, assim como os honorários e as custas. E aí eu não consigo fazer esse processo sozinha. Aí eu preciso ficar mandando informação para PMO atualizar ou eu tenho?Para fazer a gestão de Moraes do Pepe, hoje a Engenharia tem um.Quando a Engenharia quer virar a página daquele Pepe e focar os esforços na próxima obra. Ele, como processo judicial, ele ainda continua muitas vezes discutindo dinheiro com as diferenças. É, há um interesse, inclusive, da engenharia de rodovias em especial.É transferir peps para a gente fazer gestão. O que eu estou inclusive fazendo de alguns. Eu quero devolver esse escopo porque num primeiro momento falaram que era para a gente fazer controle de honorários que faltava. Mas não é isso. Eu acabo virando gestora do Pepe dentro do sistema do SAP.E acho que isso não é o objetivo. Então, quando a gente olha essa interface, é, a gente precisava melhorar mesma coisa quando eu tenho dinheiro de retorno das ofertas. Então às vezes eu tô lá, tive que depositar pra liberar a área, valor adicional e depois eu ganhei aquele valor. Eu tenho que voltar.</a:t>
            </a:r>
          </a:p>
          <a:p>
            <a:pPr lvl="1">
              <a:defRPr sz="1200"/>
            </a:pPr>
            <a:r>
              <a:t>Karina Baungartner   29:28Tá, os gates a gente tem previsto em cada evolução de projeto, um portal de aprovação, então do funcional para o anteprojeto, do anteprojeto para o executivo e do executivo para a contratação para licitação.A gente tem um portal de aprovação é que a diretoria de Engenharia é aprova. A gente chama também a diretoria da unidade, áreas da unidade e também a manutenção. É isso não chega no núcleo.Tá, Gabriel, essa governança que a gente tem, ela não envolve o núcleo, eles não são chamados para reunião e para ser sincera, eu acho que eles veriam o número. Então, se eu.Tem alguma aprovação de inclusão de um valor que precisa ser incluído porque está ficando mais caro ou alguma coisa vai ficar mais barato? Eles veriam lá já no consolidado no sistema. Uma alteração é de Capex, tá? E aí a gente.Se nesse pontuado, a gente explicaria a questão da evolução do projeto, só que, como eu falei, eu acho que eles já recebem um número tão consolidado que é muito difícil eles _irem na a nível de projeto para saber as mudanças.Executivas que estão gerando aquela aquele impacto, que podem estar gerando algum impacto.É respondendo aí o item, se existe flexibilizações, é, existem. Eventualmente a gente faz reuniões com é fórum reduzido para validar alguma coisa que.Não vai alterar o plano de negócios, mas a gente precisa aprovar uma solução de engenharia, seguir em frente. Então, basicamente, se ela se o que eu vou apresentar não vai trazer impactos para a companhia, seja de prazo ou de valor.A gente dentro ali da diretoria do Ângelo, a gente tem feito algumas. É flexibilizações de agenda, tá? Porque é extremamente complexo conseguir uma agenda com todo aquele fórum que a governança desenhou.</a:t>
            </a:r>
          </a:p>
          <a:p>
            <a:pPr lvl="1">
              <a:defRPr sz="1200"/>
            </a:pPr>
            <a:r>
              <a:t>Marcela Alice Ventura Pinto   18:27Passa-se a existir após o BID, então não antes se a empresa decidir o nosso parceiro achar o conveniência, faltando alguns dias não entrar, então a gente também está ali fazendo um estudo para ter um valor nosso.Que possa dar o suporte caso tenha alguma outra resistência lá na frente. Então existe o estudo também por conta disso. Então, quando a gente está num novo negócio, ele vai se pensando em algum, em algumas Vertentes.</a:t>
            </a:r>
          </a:p>
          <a:p>
            <a:pPr lvl="1">
              <a:defRPr sz="1200"/>
            </a:pPr>
            <a:r>
              <a:t>Ricardo Alexandre Pereira Benicio   22:33Vou falar um pouco de 44. Tem que ver assim, não pode se criar uma vertical de capex agora e eu, com todo respeito ao Valdo e a todo mundo que está na holding, é e criar mais trabalho para turma que está tocando a expansão da 4, porque ela já tem um processo que é o processo limitador.Do book esmeralda, a gente já tem um processo. Se vocês quiserem mudar isso, vai ser uma confusão, porque pode gerar retrabalhos e até como a gente se comunicar com o banco mundial, que é o financiador desse grande projeto. Então tem é, eu sempre digo, como eu já fui road já.</a:t>
            </a:r>
          </a:p>
          <a:p>
            <a:pPr lvl="1">
              <a:defRPr sz="1200"/>
            </a:pPr>
            <a:r>
              <a:t>Tiago Esteves: [00:22:44] Eu tenho aqui, são três nomes. Então a gente tinha uma rotina de gestão técnica que era semanal e tinha uma gerencial e tinha uma estratégica. Então essa técnica, ela tinha todo o histórico de todas as reuniões semanais e tinha o registro de todas as decisões que eram tomadas entre as partes. Os alinhamentos técnicos e isso fica. Isso gerava um histórico de registros que foi desde o primeiro até o último dia de reunião. E essa, Esse. Esse arquivo. Ele virava um anexo do meu. Porque depois, Lá na frente. E o preço da proposta final de CAPEX que era feita? E isso virava um documento em anexo de que aquelas premissas estavam foram discutidas e alinhadas entre as partes. Então isso era técnica. A gerencial já era um nível entre eu, que era o gerente do projeto com o gerente do outro, da contraparte, então com o gerente das construtoras, os outros fornecedores. Isso aí já era quinzenal. E tinha uma reunião mensal, que era uma reunião de diretoria entre as partes que a gente também tinha essa planilha que resguardava todo o histórico dos alinhamentos feitos. Então eu vejo que assim tem os dados.</a:t>
            </a:r>
          </a:p>
          <a:p>
            <a:pPr lvl="1">
              <a:defRPr sz="1200"/>
            </a:pPr>
            <a:r>
              <a:t>Rebeka Yang Wang   28:02Então a gente apresenta a linha total e apresenta o realizado de cada gestão. Só que como é um relatório que ele é tratado manualmente, eu não consigo dizer qual gestão que colocou algum realizado para mais ou para menos que não está batendo. Normalmen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3. Estruturação (Plan/Custo)</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Guilherme Tellis   55:38Perfeito, perfeito. É hoje, vamos dizer assim, 98% da minha base é dentro do PPM, porque ainda era é a ferramenta oficial. É, a gente está migrando por causa das continuidades da Microsoft, mas é, eu entendo que assim hoje OPPM.Como ferramenta, ele tem uma perda de rastreabilidade no sentido de, por limitações sistêmicas, eu não consigo utilizar todo o potencial dele. E aí eu preciso ter, vamos dizer assim, puxadinhos, aonde eu vou colocando as informações dos.Projetos ou alguns fluxos aonde eu poderia ter uma ferramenta que controlasse tudo e aí eu teria não só um repositório de projeto, como um projeto deve ter, mas eu teria ali toda a base de da carteira da plataforma.Tá, então acho que hoje a limitação da ferramenta é uma das coisas que eu entendo que é uma fragilidade nessa perda de rastreabilidade, porque eu coloco um caminho. Se você, Victor, foi lá e falar, não, eu vou criar um caminho paralelo aqui para.Ficar de backup, depois eu subo e nunca subi já o processo já está furado. Então acho que esse é o um ponto. Divergência entre bases. Eu acho que a gente tem pouco, porque a gente tem uma cultura, eu vejo que é a motiva e a necessaire. Ela tem uma cultura de tipo.Trabalhar com bases unificadas. Então, hoje que nem a gente tinha uma base econômica, financeira e física, separa o econômico-financeiro em uma e o físico em outra. Para esse ano a gente consolidou. Então eu trato o projeto dentro de uma única base, que econômico, físico e financeiro.Juntos, então, tipo assim, primeiro que para quem está olhando o projeto, para quem está planejando, ele consegue ter a visão em um único lugar do projeto como um todo. Eu aponto o meu fisco, eu vejo o meu desvio, eu vejo o meu impacto econômico, eu vejo o meu impacto financeiro. Então acho que isso é mitiga um pouco dessa divergência.Obviamente que quando você fala que eu tenho uma base manual, que não está em sistema, que também é ali a questão de limitação, eu tenho um risco de erro, por mais que eu tenho automações, que eu tenho, que eu faço ali, alguns cheques, que eu tenho, algumas travas que.Passam algumas pessoas de fazer determinadas movimentações, mas eu estou falando aqui a da mesma forma que uma pessoa pode errar, eu posso errar também e isso vira um número não oficial.Então, acho que são os 3 pontos, acho que eu elencaria ali, a ferramenta hoje é a questão de talvez para as unidades, para as para os pilares, que eu não tenha essa profundidade do conhecimento.Tecnologia, frotas e unidades. Eu não tenho essa rastreabilidade e aí eu tenho posso ter divergência do número deles. E quando eu não tenho isso em sistema, obviamente eu fico dependendo de 100% aí de ação manual.</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Cesar Sampaio de Castro   40:06O caixa é o caixa. O próprio pessoal falou na agenda passada, o lord falou, eu não tenho confiança em trazer. É o caixa, cara. Assim, é o caixa que eu levo como baseline forecast. É o caixa que eu acho que é, entendeu? É o é o que está na minha planilha, se você me perguntasse na.No prisma Thais, eu tenho uma certeza na vida, não é, entendeu? Não é?</a:t>
            </a:r>
          </a:p>
          <a:p>
            <a:pPr lvl="1">
              <a:defRPr sz="1200"/>
            </a:pPr>
            <a:r>
              <a:t>00:54:22 Flávio PimentelDe planejamento. Esse manual de planejamento tem que ser anexo em todos os nossos contratos. E aí a gente começa a estabelecer. Então isso é um problema e eu acredito que, é por isso que eu estou dizendo, como o Waldo, Não é de CAPEX, eu não sei se ele vai chegar nesse nível do que ele espera do núcleo, Nessa granularidade. Ele vai falar, ah, eu quero que ele seja eficiente e tal ponto, assim, assim, outro. Mas eu estou dando a minha visão aqui de núcleo, onde que a gente, como CAPEX, precisa entrar. O endereço contratual é um problema muito grande para a gente.</a:t>
            </a:r>
          </a:p>
          <a:p>
            <a:pPr lvl="1">
              <a:defRPr sz="1200"/>
            </a:pPr>
            <a:r>
              <a:t>Lucas Giraldi Rapchan Aguilar   16:56Alexandre de Morais de Moraes, a gente faz o nosso financeiro com um relatório que chama da é um relatório da análises que a gente chama.Que é uma planilha de Excel que cara, é uma planilha que exige uma série de tratamentos. Ali você tem que somar uma aba com a outra. Você tem uma série de valores que vem sem.É.Sem um vínculo com nada. Então a gente tem que pegar os valores relevantes, entrar em contato com o pessoal lá do planejamento financeiro da unidade e falar, cara, tem esse valor grande aqui, que é isso aqui, é um caução, isso aqui é um adiantamento que eu fiz, não. A gente teve um ressarcimento de um seguro. Às vezes, a própria unidade de negócio faz um input manual ali no fluxo de caixa que a gente não sabe o que é.Cara, essa de longe é a minha maior dor e a maior, no meu ponto de vista, a maior fragilidade no comitê de Carlos que te apresenta ali. Não sei se você estava no último comitê, Vitor. O lógico começou falando que ele ia apresentar sem ter muita segurança dos valores que ele</a:t>
            </a:r>
          </a:p>
          <a:p>
            <a:pPr lvl="1">
              <a:defRPr sz="1200"/>
            </a:pPr>
            <a:r>
              <a:t>Isabella Nogueira   37:16Amai correta?E eu não sei se você já falou isso, mas esses esses materiais, esses reportes hoje vêm de alguma ferramenta automatizada que pega seus cronogramas, coisa do tipo ou são muito mais desenvolvidos manualmente pelo time?</a:t>
            </a:r>
          </a:p>
          <a:p>
            <a:pPr lvl="1">
              <a:defRPr sz="1200"/>
            </a:pPr>
            <a:r>
              <a:t>Priscila Galindo   30:36Sim, até entrando com o sistema que eu vi que também tem a Engenharia, que também está em paralelo com tudo isso. Então a gente tem todas essas interfaces e deixa eu te perguntar, por exemplo, dentro da gestão, hoje, por exemplo, o gerente de implantação, ele cuida de planejamento? Ele cuida de.</a:t>
            </a:r>
          </a:p>
          <a:p>
            <a:pPr lvl="1">
              <a:defRPr sz="1200"/>
            </a:pPr>
            <a:r>
              <a:t>Lucas Giraldi Rapchan Aguilar   40:08O.Cada unidade tem seu, o seu, a sua EAP, porque eles têm o seu master, que acompanha o entendimento como um todo, mas no comitê a gente traz só a fotografia do ano, então eles transformam esse cronograma, eles anualizam esse cronograma numa linha confidada de 0 a 100. Aí eles mandam para a gente aqui do integrador.Cada um manda uma planilha em Excel, a gente consolida todos eles. É de acordo com o peso de cada unidade. Isso vira aquela crua.</a:t>
            </a:r>
          </a:p>
          <a:p>
            <a:pPr lvl="1">
              <a:defRPr sz="1200"/>
            </a:pPr>
            <a:r>
              <a:t>Cesar Sampaio de Castro   33:14Cardoso, exemplo, orçamento, o último que me veio na cabeça aqui, sei lá, chegou um e-mail do pessoal da Letícia falando assim a Cezar Cezar não pessoal, para fins de orçamento, vamos atualizar o caixa de janeiro conforme o real de dezembro. Até então, essa era uma premissa financeira que não.Não poderia ter essa atualização, eu não poderia mudar o meu caixa. Tudo que eu tivesse feito antes era aquilo. Se eu tivesse gastado a mais e tivesse um caixa a mais, era estouro de orçamento. Aí a gente, putz, mas espera aí, veio uma premissa dessa, deixa eu ver melhor se é isso mesmo. Aí a gente ia conversar com Trilhos. Aí o diretor de Trilhos falava assim.Não, essa premissa não vale aqui. Aqui vocês não vão mudar. Mas o corporativo que mandou não, mas então pra gente não vale. Putz, então espera aí. Então às vezes, como você tem diretorias financeiras de núcleo do capex, às vezes o núcleo do capex dá uma diretriz, a gente fica assim, putz, será que é mesmo? Será que o financeiro está sabendo? E às vezes o financeiro.Da uni da plataforma ou do corporativo, não está? Eu sei que a Bichu Teixeira tem aumentado mais essas interfaces porque eu já falei isso porque ela falou assim, gente, a gente às vezes só recebe diretrizes conflitantes de vocês. A gente fica maluco, não, a gente vai começar a alinhar mais, só que vira e mexe você cai nisso, porque você não tem uma única área, esse é o ponto, tá? Você não tem uma única área.Dona do processo do Carlos, existe a área financeira e existe o núcleo, tá? Então assim, às vezes você pode ter diretrizes conflitantes entre elas. Isso para mim é um risco, tá? É outro ponto que é o que eu falei.Já falei para vocês, eu acho que o núcleo do capé que estava muito focado ali no output, na casca do material, e eu acho que tem oportunidade para ele ter um corpo maior de metodologia, por exemplo, é uma dor geral de todo mundo caixa.Alcaixa.Passou um tempão e não mudou, entendeu? Eu sei que a Bia tem, às vezes ela falou, não, eu tenho uma ideia de fazer, mas assim não conseguiu. Pô, faltou força, faltou time, faltou para criar um processo do caixa. É então assim, dores que são gerais de todo mundo, uma ferramenta para o caixa e tal. Isso assim a gente não tinha o Luca.Não estava tendo força de implementar isso, sabe? Eu pedi para elas, por exemplo, pessoal, a gente reporta para trilhos, reporta para rodovias e para vocês não faz sentido ser um lugar único. Elas não tiveram também tipo força de ir lá e falar assim, gente, é uma só, porque o.Trilhos gritava rodovias gritava e a gente atendia então eu falava muito isso que eles falou assim pô gente se vocês são a referência de Carla que vocês tem que botar o pé na porta e não é e decidir tal a gente sente falta disso eu acho que agora o mandato mudou tá eu já percebi isso acho que com a chegada do Valdo naComo vice-presidente, o discurso já mudou. O Valdo já deu um track assim, nós vamos ser mais atuantes e mais decisivos nas coisas. Eu falei, cara, que bom, é isso que estava faltando. Então eu já acho que o Valdo já veio com essa missão de ser mais impositivo.O núcleo do capex, ele era menos impositivo, sabe? Ele que beleza, ele criava os padrões, mas cada um se virava do seu jeito. Eu acho que agora o próprio Valdo está puxando para ele o projeto capex ali. Eu não quero saber o que vocês me falam, as necessidades, mas a gente é que vai.Vitoriar isso aqui decidir achei ótimo beleza agora temos um grande decisor Centralizado para fazer as coisas é então eu acho que é um ponto que eu colocaria como melhoria mas eu já acho que o Valdo já veio com essa missão e acho que vai ser bom sabe nesse sentido</a:t>
            </a:r>
          </a:p>
          <a:p>
            <a:pPr lvl="1">
              <a:defRPr sz="1200"/>
            </a:pPr>
            <a:r>
              <a:t>Camila Gil Henriques Marinheiro   19:35Eu estou muito preocupada, tanto pelo lado de TI, aqui de tecnologia, pelo número, falando de tecnologia, as grandes preocupações. A definição da solução, eu acho que já, né,Já conseguimos.Vencer essa etapa. Agora, a arquitetura ainda para mim é algo que a gente está trabalhando, quais sistemas vão ficar ainda, quais integrações a gente vai ter que fazer. E a parte de migração dos dados. Então, assim, fazer migração de projetos em andamento.O quanto já foi realizado, o PPM, então a gente migrar 100% do PPM para uma nova estrutura. Então essa é uma preocupação muito que até está sob minha responsabilidade, a parte de a frente de tecnologia.Mas tem uma outra frente que eu estou bastante também preocupada que vai acabar impactando aqui a gente.Que é que processo que a gente vai definir na ferramenta, né? Que processo que as pessoas, quando forem entrevistadas, elas vão defender, porque hoje, todos esses pontos focais aí que estão atuando, né, eles estão Se você perguntar qual que é o processo que eu vou colocar na ferramenta,eles vão falar o processo deles. Eu uso uma planilha, né? E essa gestão da mudança, então a gente não terminou ainda de desenhar um processo to be, isso tá lá comIsso falando muito de transacional, está, mas também eu acho que esse processo to be, ele tem que ser, é.impactado pelas definições de metodologia que está vindo da Verum. Então, por exemplo, a Verum fala "pô, vocês tem que fazer uma gestão de portfólio classificando esse portfólio, investimentos X e até não sei quanto são classificadosa né vai ter uma classificação ABC em cima dessas gestões de projeto a a gestão do projeto classificação a elas têm que seguir certas né regras políticas tananã tem que terde Moraes, comitês mensais, essas governanças, querendo ou não, essas políticas, elas impactam, querendo ou não, o processo aqui embaixo, transacional, né? Então, os timings disso, de tudo isso se estruturar,E isso virar um processo, e isso além de tudo ser disseminado para esses pontos focais das áreas, me preocupa versus o quanto a gente está sendo aqui escalado, impulsionado e desafiado para fechar uma contrataçãouma solução quanto antes, né? Então fala assim, beleza, a gente vai colocar aqui em abril todo o time oracle lá, todo a implantadora para dentro, e aí? Então, que processo que a gente leva para dentro da ferramenta?Isso é algo que me preocupa, são premissas, atividades predecessoras de projeto, que ainda para mim não estão bem claras de cronograma, entregáveis, discussões, aprovações.Está sendo um faz, faz, faz, né? Vamos, faz, segue, segue, segue. E me preocupo um pouco que, né?É, talvez essas atividades não tenham qualidade, não qualidade, mas não tenham a absorção necessária para realmente virar uma atividade ou um requisito para a gente implantar no sistema, entendeu?Então, tem uma complexidade técnica gigantesca e tem uma complexidade. Desde o começo eu bato na tecla. Esse projeto, para mim, as 2 grandes entregas é arquitetura de referência.A gente fechar essa arquitetura versus o GMO, né? Então a gestão de mudança, de olha, tudo você faz agora, você não faz mais nada na planilha, você vai fazer no sistema, né? E aí a pessoa, tá, mas ela vai precisar entrar num bit byte ali, detalhado, né? Eu tenho</a:t>
            </a:r>
          </a:p>
          <a:p>
            <a:pPr lvl="1">
              <a:defRPr sz="1200"/>
            </a:pPr>
            <a:r>
              <a:t>Jean Carlos Bonin da Silva   51:34Sem problema, fica à vontade.Toda a gente tem lá na nesse arquivo, a gente tem o previsto realizado e tendência. Então, se caso tiver OK, que a gente traçou no início do ano, só preenche o real e a tendência está OK. Se caso mudou, eu preencho tudo que está lá.Que é o previsto real para os próximos meses, tanto para os próximos anos. E o que tem lá? Tem informações de físico, que é percentual, porque a gente tem uma linha fechada lá e informação de econômico, financeiro nessa planilha e o resto tá tudo mais dentro de casa.</a:t>
            </a:r>
          </a:p>
          <a:p>
            <a:pPr lvl="1">
              <a:defRPr sz="1200"/>
            </a:pPr>
            <a:r>
              <a:t>00:33:19 Letícia CardosoUma análise de um plano de negócio, seria legal, tipo assim, se vocês não têm isso, Fácil, talvez seja legal vocês começarem a se prepararem, sabe, tipo, eu tenho ansiedade, Então eu gosto que as pessoas me avisam com antecedência, então eu também aviso com Antecedência. Então eu já falo, hum… Eu não tenho essa informação, só o planejamento vai ter, eu não sei se eles também têm, vai ser difícil deles conseguirem. Foi isso o retorno que eu tive. Então assim, isso vai ser um desafio, tipo, eles vão abrir o plano de negócio pra gente? Eles vão passar o plano de negócio pra gente?</a:t>
            </a:r>
          </a:p>
          <a:p>
            <a:pPr lvl="1">
              <a:defRPr sz="1200"/>
            </a:pPr>
            <a:r>
              <a:t>00:21:21 Flávio PimentelÀs vezes o financeiro não concorda com aquele que é a posição de engenharia, E a gente aqui fica no núcleo tentando consolidar essas duas visões numa única tendência. Pior, é que você não tem uma ferramenta, então a gente tem que fazer isso manual.</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 de gestão de riscos, então todos os processos da de gestão de risco.Orientado do nosso procedimento é toda a parte de identificação, é classificação, análise, monitoramento dos riscos, tratamento com as medidas, é preventivas e atenuantes, é.A gente está nessa fase agora porque é uma a Motiva. Hoje ela tem uma diretoria de riscos corporativos, mas é um é um enfoque para a parte financeira do risco. O risco é identificado nas plataformas, porém quando vai para oPara centraliza, é lá na motiva, a diretoria de riscos corporativos. Eles olham o risco como um agressor ao investimento. Então você tem um valor de investimento, uma rodovia, uma linha de metrô.E você tem um risco associado que agride esse investimento por parte aqui da Engenharia de Implantação. Então, dentro da diretoria que eu estou, a gente está querendo mudar um pouco esse conceito e mostrar o risco como é uma forma de você lidar com uma contingência que é determinada. Então.Todos os projetos que estão saindo agora, a gente está fazendo um trabalho bem. É profundo de determinar as contingências que estão envolvidas nesse projeto. Então, uma obra de metrô, ela custa tanto. A gente vai contratar essa obra e a gente vai reservar um valor.Para contingências e o que compõe essa contingência? É o nosso trabalho aqui. São reuniões multidisciplinares, são é rodadas de análise de avaliação desses riscos. Até que a gente chega de um valor. E esse valor ele é.É reservado ao longo do desenvolvimento do projeto para a gente ir gerindo todos aqueles riscos, tendo riscos novos. A gente tem que ver como é que vai tratar. Materializando riscos, a gente tem que ver como que vai tratar. Então isso vai muito a ao encontro do que é.AFPU núcleo de capex tem lá uma rubrica da contingência. Então é basicamente eu faria a determinação dessa contingência por aqui. É a gestão dessa contingência. Ela tem que ter um processo que a gente não tem ainda instituído. Eu acho que é.É uma é uma das dos objetivos aqui e daí? Ao longo do projeto, a minha equipe também faz essa gestão para ir vendo se materializou ou não essas medidas estão funcionando e se tudo der certo, essa contingência sobrevive e vira resultado ou ela é utilizada para os.Isso que estão acontecendo aí. Então, basicamente a parte de gestão de risco é, eu vim para motiva para dar esse enfoque na implantação, então estou construindo isso. Então eu tenho equipes, tenho uma equipe centralizada que fica aqui, que cuida do processo.E eu tenho equipes que estão em cada vertical, então eu tenho equipe na linha 4 demais empreendimentos. A gente está iniciando a linha 5, já estamos vendo como é que vai ser a equipe. E lá essas pessoas vão ficar dedicadas à execução, ao dia a dia do risco, vai ter o fornecedor, o subcontratado que vai ser o responsável.pelo risco dele ali da execução, mas a gente tem que ficar olhando para isso. Então essa é a área de gestão de risco, é a área de gestão contratual. É o que acontecia aqui na Motiva, que pelo menos o que eu a minha percepção é que todo mundo fazia um pouco de gestão contratual, então isso está pulverizado.Você tinha um contrato, ele era assinado e ele ficava com um gestor desse contrato. Então toda a vida do contrato acontecia no âmbito daquele gestor. Então alguém vai contratar uma empresa que vai construir, sei lá, um.Vestiário numa estação.É a pessoa, é, fazia a solicitação, a engenharia, fazia especificação técnica, vai para os momentos, contrata. A partir do momento que contrata esse gestor que pediu esse contrato, ele faz toda a gestão, ele faz as medições.Ele é, fiscaliza esse cara? Ele é, faz aditivos. Então, quando eu cheguei, isso estava totalmente pulverizado, as cartas, as correspondências, os contratos, aditivos, estava tudo em cada uma das verticais, em cada uma da dos gestores.Eu estou agora há 3 meses pegando tudo isso, concentrando tudo aqui para a gente fazer. É um banco de dados grande para a gente ter controle desses contratos, para a gente ter controle das correspondências que são enviadas. Estava assim.Tudo solto, então é, cada um mandava carta do jeito que queria, cada um mandava e-mail, cada um mandava comunicação. Então hoje eu centralizei isso. Todas as cartas passam para o meu setor, são cadastradas, codificadas e são enviadas. Quando são enviadas, a gente deixa no cadastro de resposta ou não, se está com necessidade.De respostas, a gente cobra as respostas, recebe a resposta e distribui para quem é de direito. Então é pra ter um paralelo. Quando eu cheguei, se tinha uma notificação de segurança do trabalho que Era Para Ser feita, o.o responsável por segurança de trabalho da vertical mandava um e-mail para o fornecedor e falava meu senhor você tem que usar EPI e é isso ficava um registro por e-mail sem controle sem nada então hoje o que que eu né a gente instituiu aqui você manda demanda para genteSe você quiser mandar a carta, se você não precisa mandar a carta, a gente redige a carta, mas fica a seu critério. A gente vai processar essa informação, montar uma carta. Se ele mandar a minuto, a gente é padroniza, a gente ajusta. Tudo isso a gente faz os.A coleta de assinatura de quem seja, então, se é uma carta que vai para o poder concedente, a coleta de assinatura é feita através da diretoria, se é uma contrato que é aqui para dentro da Engenharia de Plantação, a gente coleta com o gestor, faz o envio dessa carta, o protocolo e começa a seguir o acompanhamento, então.Hoje eu tenho controle de todas as cartas que saem da Engenharia de Plantação, é tenho o controle dos 263 contratos que a gente tem aqui na Engenharia de Plantação.E a gente vai vendo a evolução agora conforme a necessidade. Então os contratos são todos aqui, é selecionados, visualizados, acompanhados. Tem um aditivo que é para ser feito. Então lá no front vem a necessidade.Passa pra gente, a gente avalia. Se for o caso de consulta jurídico, a gente vai fazendo essa triangulação, é feita a requisição para suprimentos e o aditivo é feito. Então tudo hoje passa pela gente. Aqui é essas coisas, elas é, eu acho assim, tem.Tem coisas que você ganha velocidade descentralizando e tem coisas que se você descentralizar, você perde muito controle. Essa questão da gestão contratual, eu sempre, eu sempre é entendo que os caminhos são meio de via única. Quando você vai falar com o cliente.E quando você vai lá falar com o fornecedor, você pode ter reuniões de trabalho, você pode ter atas que formalizam alguma coisa ali, mas a comunicação é ponto a ponto. A gente tem um representante aqui, o fornecedor ou o cliente ou o poder consciente, tem um tem um representante lá e a gente faz esse canal e tudo isso fica.Mapeado, né? Hoje a gente não tem isso de forma sistêmica, não tem um sistema para usar isso. O processo está instituído, a gente usa muito Excel, usa ferramentas do Teams para questão de uso planner para a gente fazer de trabalho para ver se a carta está atrasada, se não.</a:t>
            </a:r>
          </a:p>
          <a:p>
            <a:pPr lvl="1">
              <a:defRPr sz="1200"/>
            </a:pPr>
            <a:r>
              <a:t>00:51:18 Flávio PimentelNa Área de novos negócios, na área de planejamento. Não que a gente vai entrar no planejamento em si, que a gente não tem braço para isso. Mas, por exemplo, na definição do manual de planejamento unificado para a motiva. A gente tem, e eu participei, em escrever o manual de planejamento lá em Trilhos.</a:t>
            </a:r>
          </a:p>
          <a:p>
            <a:pPr lvl="1">
              <a:defRPr sz="1200"/>
            </a:pPr>
            <a:r>
              <a:t>Joao Pedro Almeida da Rocha Pita   43:48Nada.Espera eu talvez eu rematasse desta maneira, não é? Eu já trabalhei em áreas técnicas, não é? Já fui planejamento estratégico responsável pelo desenvolvimento de da área operacional da capacidade de Guarulhos, não com o capex em Guarulhos, no aeroporto.Já fiz new Business e área comercial. Eu acho que assim ninguém faz obra ou deveria fazer por fazer essa obra tem um objetivo.A gente está a ter o custo mais racional para o objetivo desta obra. Ponto de interrogação, se sim, ótimo.Senão façamos aquilo que é o mais assertivo, não é? Eu estou a fazer uma estação. Qual é o objetivo da minha estação que o passageiro consiga chegar no trem? Mas além disso, é o quê? Gerar o maior negócio possível nessa estação, sem comprometer o primeiro passo que eu falei antes, não é?Ou seja, ele tem que ser capaz de apanhar o trem óbvio, não é? Eu Não posso pôr uma escada rolante virada para a Parede que o passageiro vai se formar uma fila contra a Parede, óbvio também. Agora, se a escada rolante pode ser no final da estação e ele passar pela área comercial ou for no início da estação e a área comercial ficar sem ninguém, porque ninguém passa lá porque A Escada é antes.ISTO são boas práticas de uma empresa privada que têm que ser postas em prática. Este exemplo de novo muito tosco, mas acontece aqui em que há uma escada rolante antes da área comercial. Ora, isso não deveria acontecer mais numa empresa privada.Então este repensamento, eu acho que ele é importante. Qual é o objetivo do Capex? Gerar retorno.Como é que isso acontece? Um capex mais ligeiro dentro das normas que permitem um opex menor ao lindo ciclo de vida e que gere mais receita, OK? E estas perguntas têm de ser constantemente feitas no capex, que é aprovado.</a:t>
            </a:r>
          </a:p>
          <a:p>
            <a:pPr lvl="1">
              <a:defRPr sz="1200"/>
            </a:pPr>
            <a:r>
              <a:t>Michel Simoes Araujo   31:42Ricardo. Então hoje a gente a gente não tem uma política firme de retenção e a gente também às vezes nem consegue, porque a rubrica que está vindo de fora e das propostas que o pessoal está recebendo, a empresa não consegue ficar a todo momento cobrindo. Então hoje a gente tem um impacto muito grande do.Do nossos outros players aí que estão estão com a gente no mercado e eles estão vindo aqui, porque eu te falo, eu não sei se você já fez pesquisa, mas se você for hoje tentar contratar um coordenador, um especialista ou até um próprio analista sênior de planejamento, você vai ver que demora 90 dias, porque essas pessoas, fatalmente, eles estão em algum lugar. Então, para trazer esse cara para cá, você tem que dar um plus para o cara.Então assim, até que ponto também é hoje? A gente está com essas estruturas hoje, OK, com o mercado, para você poder de repente fazer uma proposta para tirar um cara de um lugar e trazer para te ajudar aqui. Então a gente tem esse problema. Hoje o William está com problema, eu estou com problema. Eu estou com um gerente em contratação faz 90 dias.É então assim, tá complicado. Nessas rubricas de planejamento, ainda mais o mercado está aquecendo, está com várias obras, não só as nossa ainda. A gente tem AIPR, que está aí do lado, tem a eco, tem a trilha, tem o tick Tree, tem a comport, então a gente tem vários.É, digamos assim, os players que estão no mercado junto com a gente, que eles estão demandando essa mão de obra e está bem escasso. Sem contar a vale também, que é um é um concorrente direto da gente com relação a parte de estrutura de planejamento, que é uma concorrência desleal. Então a gente acaba tendo que ficar ali vendo como que a gente consegue acomodar as pessoas.</a:t>
            </a:r>
          </a:p>
          <a:p>
            <a:pPr lvl="1">
              <a:defRPr sz="1200"/>
            </a:pPr>
            <a:r>
              <a:t>Lucas Giraldi Rapchan Aguilar   22:50Um pouco, sim, está, por exemplo, Se Eu tivesse um sistema que integrasse essas condições contratuais que fazem com que o meu capitus económico defira do meu financeiro, como, por exemplo, o controle de adiantamentos e baixos adiantamentos, um controle de caução e.De retenção de caução, de liberação de caução. Se eu conseguisse ter isso unificado, cara ia resolver 90% dos meus problemas. Mas é tudo planilha, tudo conversar com planejamento. Esse mês eu vou ter que liberar o passou das empresas e a gente informa esse planejamento, o planejamento coloca lá na.Na tendência dele. E aí a informação se perde, não se conversa, não tem a governança. Então, cara, aí aí vira uma bagunça, sabe? Central.</a:t>
            </a:r>
          </a:p>
          <a:p>
            <a:pPr lvl="1">
              <a:defRPr sz="1200"/>
            </a:pPr>
            <a:r>
              <a:t>Ana Cristina Souza   31:33Descreva o passo a passo como os dados físicos e financeiros são consolidados na sua plataforma. Você trouxe também, né? Principalmente a sua dura aí de falta de nivelamento das metodologias, né? Em que cada um aplica, como a contingência é monitorada e quem decide seu uso.</a:t>
            </a:r>
          </a:p>
          <a:p>
            <a:pPr lvl="1">
              <a:defRPr sz="1200"/>
            </a:pPr>
            <a:r>
              <a:t>00:12:26 Marcus RosaEu acho que parece, parece que são poucos meses, então sim. Não entrei na cozinha ainda para olhar isso. E nem quero entrar porque é da engenharia, na minha leitura. Falta um pouco de planejamento e previsibilidade, é isso que me parece. Então eu acho que a gente tem pessoas técnicas aqui, por exemplo, que tem o conhecimento técnico, Mas eu não sei se a gente tem as capacidades adequadas de execução de contrato e gestão.</a:t>
            </a:r>
          </a:p>
          <a:p>
            <a:pPr lvl="1">
              <a:defRPr sz="1200"/>
            </a:pPr>
            <a:r>
              <a:t>00:24:05 Flávio PimentelFoi terrível. Terminou que conseguimos chegar no bom termo, que como estava, estava correto, Não precisava reformar. Só que o pessoal da plataforma teve que ajustar o seu planejamento para atender o que foi informado. Ah, tinha um erro. O problema agora é de vocês, amigo. Resolva esse erro internamente. Tire daqui, tire dali, economiza no CEAON e resolva. Aqui já foi para o mercado, não vou mexer no mercado. Agora, se cuide para não errar mais. É por isso que a gente começou a dizer, não, a gente precisa que o CFO agora é que ele dá e dá a informação.</a:t>
            </a:r>
          </a:p>
          <a:p>
            <a:pPr lvl="1">
              <a:defRPr sz="1200"/>
            </a:pPr>
            <a:r>
              <a:t>Luiz Gustavo Degan Franchim   38:39Falta de planejamento.São 22 tipos de defensas que são homologadas só por nós.Já temos a especificação, já temos o tipo de defensa que é, sabemos que é só os fornecedores, mas se eu for comprar picado toda hora, eu não consigo sua energia, não consigo a escala.</a:t>
            </a:r>
          </a:p>
          <a:p>
            <a:pPr lvl="1">
              <a:defRPr sz="1200"/>
            </a:pPr>
            <a:r>
              <a:t>00:51:52 Flávio PimentelAcredito até que esse Manual de Planejamento aqui de Udovia vai precisar ser revisado. Esse de trilho a gente vai trazer para nossa realidade aqui agora, mas a gente já imputou Aqui o planejamento em Oracle em primavera, aqui não, aqui ainda a gente trabalha com Planejamento no Project, que é uma ferramenta limitada para obras de engenharia, projetos, De engenharia. E a gente tem a Serra da Zarara com o project.</a:t>
            </a:r>
          </a:p>
          <a:p>
            <a:pPr lvl="1">
              <a:defRPr sz="1200"/>
            </a:pPr>
            <a:r>
              <a:t>Alexandro Marcelo Zopolato Francisco   18:39Então, assim, é o que eu falo, você tem que então assim, você tem que ter um planejamento, não é só um planejamento bem feito, ele tem que ser um planejamento que acomode todos esses prazos, né? Então aí hoje você chega e fala assim, olha, tal coisa demora tanto tempo.Todo mundo assusta.</a:t>
            </a:r>
          </a:p>
          <a:p>
            <a:pPr lvl="1">
              <a:defRPr sz="1200"/>
            </a:pPr>
            <a:r>
              <a:t>Rebeka Yang Wang   28:02Então a gente apresenta a linha total e apresenta o realizado de cada gestão. Só que como é um relatório que ele é tratado manualmente, eu não consigo dizer qual gestão que colocou algum realizado para mais ou para menos que não está batendo. Normalmente é para menos. Sempre ficam valores não atribuídos que ninguém.Atribui a ninguém. Então esse eu acho que é o que tem menor confiabilidade. O econômico, como vem tudo do SAP, então não tem como não ter confiabilidade. Eu já extraio ele pronto por PEP a PEP e ele vem tudo atribuído. Agora o financeiro não vem 100% atribuído.</a:t>
            </a:r>
          </a:p>
          <a:p>
            <a:pPr lvl="1">
              <a:defRPr sz="1200"/>
            </a:pPr>
            <a:r>
              <a:t>Sabrina Santos Pedroso   46:58Santos.Sim.Sim, só para você saber, quando a gente fala de Monte Carlos no cronograma, isso eu nem tenho visibilidade. Se é feito ou não, tá? Essa questão de orçamento, caminho é o cronograma, o caminho crítico, enfim, isso eu não tenho nem chega para gente.Mas quando a gente olha em termos da precificação do valor em risco do Capex, é tudo pela nossa ferramenta. O cálculo é feito pela nossa ferramenta, então é preenchido. Vou até mostrar para vocês uma telinha. Então isso é ajudou muito a gente evoluir. É na confiança dos números que eram colocados em termos de P80, PE.20 cenários. Então a gente tem um módulo aqui, gestão de riscos de projeto, onde tem um cadastro de todos os riscos. Deixa eu pegar aqui 11 não sei se é citativo, enfim, que tem alguns status superados. Enfim, isso aqui no caso está super, mas a.Calcular o mesmo é, a gente consegue associar o item do orçamento ou não é? A gente consegue colocar a forma de cálculo. Geralmente todos os riscos entram na distribuição triangular, mas eu volto a provocação. Se a gente tivesse um histórico com desvio padrão daquele tipo de risco, eu conseguiria usar uma normal.Passos é muito mais assertivo no meu cálculo, usar um desvio padrão diferente para cada um dos riscos que eu estou falando. Hoje a gente não tem condição de habilitar essa forma de cálculo, por exemplo, eu tenho que usar sempre uma triangular e a triangular é um cálculo muito simplificado de valor em risco.Por quê? Porque você define um range mínimo e máximo e pega o P80 ali. Então assim, dentro da distribuição triangular, quando eu uso a normal, eu consigo dizer se a minha curva é mais aberta, o meu sino da distribuição, ou ela é mais fechada e ser muito mais assertivo com os extremos quando eu pego um Pimentel.E hoje a gente não consegue fazer essa diferenciação. Se eu habilitasse a normal e tivesse um desvio padrão histórico, a minha precificação seria muito mais assertiva. Hoje a gente não tem ainda qualidade de informação para migrar para essa forma de cálculo, então a gente usa tudo triangular.e coloca aqui o range, então eu coloco aqui meu valor e dado a probabilidade do risco, então avaliação qualy, eu habilito aqui uma probabilidade, então provável, possível, remoto, muito provável e aqui dado a probabilidade que eu preenchi.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4. Contratação &amp; Execução</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Paulo Cesar Martins Amaral   40:27Mês a mês, mês a mês não, mês a mês não. A gente não faz no final do contrato, porque tem que tomar o cuidado também de você tá monitorando as quantidades. Aí quem faz a implantação, né? Porque se estourar as quantidades e o e o fornecedor tem que executar e não tiver item de planilha para medir.</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Elmo Serejo Pithon Copello   42:06Portoistas que tem erros como esse recorrentes, inclusive em revisões de projetos, que aí a gente já pediu para até afastar eles aqui dos nossos contratos, que a qualidade de entrega está muito ruim. E problemas diversos. A gente tem a plataforma de.</a:t>
            </a:r>
          </a:p>
          <a:p>
            <a:pPr lvl="1">
              <a:defRPr sz="1200"/>
            </a:pPr>
            <a:r>
              <a:t>00:54:22 Flávio PimentelDe planejamento. Esse manual de planejamento tem que ser anexo em todos os nossos contratos. E aí a gente começa a estabelecer. Então isso é um problema e eu acredito que, é por isso que eu estou dizendo, como o Waldo, Não é de CAPEX, eu não sei se ele vai chegar nesse nível do que ele espera do núcleo, Nessa granularidade. Ele vai falar, ah, eu quero que ele seja eficiente e tal ponto, assim, assim, outro. Mas eu estou dando a minha visão aqui de núcleo, onde que a gente, como CAPEX, precisa entrar. O endereço contratual é um problema muito grande para a gente.</a:t>
            </a:r>
          </a:p>
          <a:p>
            <a:pPr lvl="1">
              <a:defRPr sz="1200"/>
            </a:pPr>
            <a:r>
              <a:t>Priscila Galindo   47:25Mhm.E outro ponto, Paulo, está trabalhando em dados e decisões, por exemplo, você entende que hoje, no fluxo que vocês têm, no desenho que vocês têm, a parte de dados de informações que para gerenciar um contrato e as decisões, elas são tomadas de da forma.Vamos dizer assim, correta ou da forma que você imagina que é o ideal ou você ainda acha que falta alguma coisa?</a:t>
            </a:r>
          </a:p>
          <a:p>
            <a:pPr lvl="1">
              <a:defRPr sz="1200"/>
            </a:pPr>
            <a:r>
              <a:t>Paulo Henrique de Almeida Aredes   7:33É assim, acho que, como toda empresa grande, a gente tem uma governança muito forte. Acho que acho que junto com governança, a gente não vou falar burocracia, mas a gente tem certas burocracias também que travam um pouco um pouco o processo. Vou dar exemplo aqui no próprio processo de medição das contratadas. Então a gente.A parte de campo, a parte de engenharia que acompanha, faz todo o processo ali, analisa. E a partir disso tem. A gente passa para outro, outra pessoa, outro, outra área que faz a quem que de fato operacionaliza lá no SAP para fazer a medição. São exemplos mais que isso, tudo isso no.no processo como um todo isso isso acaba causando uma morosidade ali no no processo de pagamento né mas é não vou falar que a governança é burocrática também mas a gente até para um aditivo hoje por exemplo a gente tem que seguir nossa governança que demora alguns dias né algunsInclusive, se for o caso, isso prejudica olhando para a obra, especificamente para a obra, prejudica, inclusive, o andamento da obra. Em alguns casos que a gente deixa de.</a:t>
            </a:r>
          </a:p>
          <a:p>
            <a:pPr lvl="1">
              <a:defRPr sz="1200"/>
            </a:pPr>
            <a:r>
              <a:t>Paulo Cesar Martins Amaral   40:13Porque aumentou muita coisa, mas diminuiu muito mais. Aí então teve diminuição de valor. Só que aí no contrato tem que ter a última planilha, porque mesmo você faz uma medição sem ter uma planilha de quantidade validada e por preço.</a:t>
            </a:r>
          </a:p>
          <a:p>
            <a:pPr lvl="1">
              <a:defRPr sz="1200"/>
            </a:pPr>
            <a:r>
              <a:t>Gustavo Henrique Lucas Jaquie   35:47É hoje, eu acho que um dos pontos assim, e aí eu vou, vou fazer um paralelo aqui também. Isso eu sofro como centro de expertise, é a parte de automação e sistemas que permitam que a gente faça isso de uma forma integrada.e sem precisar de tantos trabalhos manuais. Então, isso eu acho que é um grande gargalo que a gente tem. Então, assim, eu acho que toda vez que a gente tem que montar uma apresentação para mostrar um capex, cara, já mostra que a gente, pera aí, por que isso não sai automaticamente de onde se está?Toma de algo automatizado que eu já tenho essa informação ali em tempo real. É esse. Eu acho que seria um ponto. E eu acho que também é aí é essa consolidação, a necessidade do corporativo com a necessidade do dia a dia.Aí olhando como um todo, a hora que você falou em contratos, riscos, trazer um exemplo de riscos, a gente tem uma plataforma automatizada, o arte, que ele tem essas informações, tem tudo. Só que ele ainda carece ou carecia, porque não tem acompanhado de algumas adaptações para atender o dia a dia.Porque aí você tem um sistema que ele consegue dar uma visão para o corporativo. Só que para você fazer essa operacionalização no dia a dia, ele não é uma ferramenta amigável e customizável e ele tira recortes. Então, assim, quando eu preciso buscar um passado, pô, não tenho. Eu tenho sempre a fotografia. Espera aí, mas eu não posso ter essa fotografia, eu tenho que ter o.O filme também. Não posso ser um negócio. Qual que é a fotografia agora? Então eu acho que esse ponto de olhar a cadeia desde a da informação chegar de uma forma consolidada até ela ser operacionalizada. Eu acho que isso que é um grande desafio para a gente conseguir fazer isso.A gente vem trazendo mudanças dentro da minha área. O que a gente vem buscando é a parte de buscando um a algo, se fazer uma gestão eletrônica de documentos. A hora que fala gestão é de todo.Não olhando só um repositório. Então assim a gente vem buscando isso, alinhado com o pessoal de tecnologia, também com rodovias. Então está sendo um trabalho em conjunto, mas assim é algo que a gente precisa ter e não olhar só às vezes parte do processo. Eu tenho repositório, eu tenho, meu time tem.Só que é algo que eu, que eu tenho que fazer algumas coisas manuais hoje, extraio daqui, jogo isso, jogo para OBI, joga, pô, o quanto isso eu sou passível de erro? Eu estou fazendo aqui, parei para conversar com vocês, voltei aqui, esqueci de subir o negócio, a informação, ela já está uma informação que ela que ela é passível de erro, então assim.Eu acho que é essa automatização, mas olhando não só tem informação, é ali para o corporativo, mas ela também ser é para a base, uma informação que seja ali, que eu vá consultar ali, que eu vá, que a base utilize aquilo ali como ferramenta.</a:t>
            </a:r>
          </a:p>
          <a:p>
            <a:pPr lvl="1">
              <a:defRPr sz="1200"/>
            </a:pPr>
            <a:r>
              <a:t>Paulo Henrique de Almeida Aredes   20:16Se nesse trecho tudo previsto, ele vai gastar lá 180 dias. Mas aqui ele encontrou um outro tipo de solo que estava diferente. Então ele e a produtividade dele diminuiu. Quando ele diminui a produtividade, a planilha já calculou automaticamente e vai para 190 dias.Por exemplo, então isso vai sendo ajustado automaticamente no contrato FIDC, como é um algo previsto no contrato, isso não precisa de aditivo mensalmente, tá? Isso pode ser pode indo medindo, mas em outros contatos da companhia da motiva, isso.</a:t>
            </a:r>
          </a:p>
          <a:p>
            <a:pPr lvl="1">
              <a:defRPr sz="1200"/>
            </a:pPr>
            <a:r>
              <a:t>Jean Carlos Bonin da Silva   5:29Contratada contratada da motiva, só que ela é um braço, vamos falar assim, um braço em conjunto, porque quem regra essa engenharia independente é o contrato. Aqui é um contrato fidic, porque como tem uma parte do projeto que é financiado pelo banco.Ja.Central o banco que fala que precisa ter um engenheiro independente para tratar algumas situações por isso que tem esse dinheiro independente a nossa equipe da motiva é reduzida para esse projeto A gente pode me interrompendo tá Guilherme</a:t>
            </a:r>
          </a:p>
          <a:p>
            <a:pPr lvl="1">
              <a:defRPr sz="1200"/>
            </a:pPr>
            <a:r>
              <a:t>Rodrigo Correa de Souza   11:51De como que são definidos os investimentos, mas olhando ali para a implantação e aí fazendo uma interface com a outra diretoria de operação e manutenção, é aonde que eu vejo assim que daria para a gente poder equalizar melhor os objetivos. É, por exemplo, quando a gente vai especificar um requisito mínimo para entrega de umde Atendimento. Quando a gente fala de qualidade, e aí eu trago muito isso do metrô, porque o metrô tem um nível de exigência muito alta. Então são obras que são projetadas para durarem no mínimo 100 anos, para poder justificar o retorno do investimento.Então, você tem uma exigência muito alta de todo tipo de material que você usa. Consequentemente, uma das minhas áreas de especialidade, que é controle de materiais, são feitos muitos ensaios, muitos ensaios mesmo para todo tipo de material, para concreto, para aço, para qualquer material que é empenhado.utilizado na obra. O último levantamento que eu fiz era coisa de tipo meio por cento de um contrato era gasto para poder justificar a qualidade dos materiais que são empregados neste tipo de empreendimento. É um custo muito alto.Ainda mais falando que são obras bilionárias, então, mas isso é um padrão metrô, metrô ele tem lá, é um plano de inspeção de serviços e materiais específicos deles. Então a gente vem com esse mesmo nível de exigência para cá. É, foi feito um processo.De adaptação, porque quando a gente traduziu para obras ferroviárias padrão CPTM, não é tão exigente como do metrô. Então a gente teve essa preocupação de trazer para a realidade. É nível de exigência de CPTME tudo mais. Só que eu acho que ainda.Ainda é um ponto que vale a pena a gente. A gente é olhar com mais cuidado, porque muitas vezes, mesmo sendo um padrão CPTM, está atendendo o requisito do contrato, está atendendo o requisito do poder concedente ali, a tesp, no caso, muitas vezes a gente poderia é.trazer mais qualidade para esse tipo de material, reduzindo a manutenção. Assim, reduzindo, não reduzindo, mas o período de manutenção, ele será ativado mais lá para frente. Então, isso acontece com umacerta frequência em estruturas metálicas, por exemplo, estruturas metálicas, você tem uma série de metodologias para você proteger aquela estrutura, dependendo do tipo de pintura que você usa, o tipo de acabamento, se é inox, se é uma pintura com uma gramatura, com uma espessura maior.Você vai precisar fazer uma manutenção naquela estrutura daqui 1015, 20 anos. Se for algo é mais barato, daqui 23 anos já você já precisa fazer uma manutenção precoce. Então, assim, esse é o tipo de coisa que acontece com frequência. Muitas vezes a gente tem aquela.Aquela é o prazo sempre é um risco pra gente, sempre é um problema. São prazos extremamente curtos, apertados, é. Então acho que é algo que poderia, pensando aí em retorno de investimento, manutenção. Só que aí pra pra poder ter um número exato. Vitor, a gente não, a gente não chegou a fazer um trabalho.Com o time de operação e manutenção, porque que é o certo nesse caso, a gente ir lá com o time de operação e manutenção, verificar quais são os principais pontos de atuação deles. É se tem esse tipo de problema. Estou lembrando aqui estruturas metálicas, que é um caso recorrente.Mas isso acontece em todas outras áreas. Então é, pode ser num túnel que a gente recebeu de alguma obra, pode ser num viaduto, numa ponte, numa passarela, na via permanente, na estação, nos acessos, então.É uma infinidade de serviços. Então, eu acho que ali a gente tem um material que vale ouro, sabe? Fazer um trabalho junto com o time de operação e manutenção, verificar para onde que está indo esse dinheiro em relação à manutenção, como que a gente poderia evitar isso desde o começo do empreendimento, desde a concepção.dele, especificando ali corretamente um material que tem uma durabilidade maior, uma metodologia executiva que traz menos não conformidades ou menos inconsistências ao longo da execução.É pensando no investimento de implantação e trazendo para o que eu conheço que são obras. Eu acho que esse é um ponto que tem um campo fértil ali para a gente poder fazer estudos, trazer é algumas decisões em conjunto aí com as 2 diretorias, tanto implantação como operação e manutenção para.Para otimizar.</a:t>
            </a:r>
          </a:p>
          <a:p>
            <a:pPr lvl="1">
              <a:defRPr sz="1200"/>
            </a:pPr>
            <a:r>
              <a:t>Priscila Galindo   38:20Rodrigo, deixa eu te fazer uma pergunta, quando você fala da parte de inspeção e tudo mais, pelo que eu entendi, todas as partes de inspeção, ela já vem num critério dentro do próprio contrato. Provavelmente tem lá na especificação técnica, desde a especificação técnica até para ser trabalhado até a parte da inspeção.Mas, por exemplo, internamente, vocês têm um manual procedimental de como é que deve ser feito a execução e depois a os testes que devem ter ser feito para cada frente. Por exemplo, eu não sei. Eu vou fazer um asfalto que eu tenho que fazer? Qual que testes eu preciso fazer?</a:t>
            </a:r>
          </a:p>
          <a:p>
            <a:pPr lvl="1">
              <a:defRPr sz="1200"/>
            </a:pPr>
            <a:r>
              <a:t>Adriana Martins dos Santos   6:26Então sim, é, eu vou dar um exemplo até de um investimento. Acho que esse é bom para a gente entender como ele nasce. Então hoje a gente está fazendo um estudo. É lembrando, ele não virou um novo negócio ainda. Ele é um estudo de conceção, de uma extensão da linha 8 até Parelheiros.Então, como que acontece isso? Artesp, ela solicita que a gente faça o estudo aí. É um projeto, projeto básico, executivo, simulação elétrica, demanda, quantidade de trens. É e quando é projeto?Que está relacionado a um negócio existente. Esse projeto fica 100% na Engenharia. A gente tem uma área de novos negócios aqui, mas normalmente os novos negócios que começam por eles são aqueles que não tem relação com o negócio existente.Então a gente faz os estudos, todos eles é, a gente anda com junto com os suprimentos, com toda a parte de valoração, aprovação, apresentação dos projetos. Essa fase muitas vezes pode demorar um ano, um ano e meio, depende o tamanho do projeto. A linha 4 levou 2 anos até efetivamente ela virar um aditivo.E a gente andar com as contratações. E aí a gente faz tanto a gestão técnica, a gestão dos contratos, até que a gente chega em um momento, fala, olha, para a gente fazer uma extensão, vai acontecer. Isso precisa de tanto trens. A gente vai de um bilhão e meio. E isso pode virar um projeto.Nesse caso, ele nasceu do estudo da Engenharia. O outro caso vem de novos negócios. Vai ter um leilão igual acabou de ter um aqui, é e a gente também participa. Então todo o estudo técnico do novo negócio também. Quem faz é o meu time de Engenharia.Tanto o pessoal de sistemas, o pessoal de civil é o pessoal de orçamento. E a gente, dentro do estudo de novo negócio, a gente é responsável para entregar lá para o time de novos negócios, falar, olha, o capex é tanto, a gente vai ter esses parceiros. A gente, inclusive, desenvolve matriz de interface, minuta de contrato.Então, também essa parte contratual com todos os grandes fornecedores, a responsabilidade está dentro da engenharia, com o apoio do jurídico.É aí a gente ainda está. Não ganhamos no negócio nem tivemos aprovação da Artesp para seguir. Tendo essas aprovações, o que eu vou fazer? Eu vou fechar todos os contratos, fazer toda a minuta de contrato, fiança, garantia, contratação do seguro.E efetivamente começar a implementar o Capes. Tanto é. E aí eu dei o exemplo para vocês, comprei trem na China, comprei sinalização na Alemanha, a construtora está aqui no Brasil. E aí a gente tem tanto contratos nacionais como os contratos internacionais.Principalmente dos fabricantes de sistemas.Aconteceu tudo isso, começa efetivamente a gestão do Capex. É qual que é o cuidado que a gente tem em toda a vida da gestão do Capes? É o envolvimento das engenharias de operação e manutenção e dos times de manutenção. Porque no final.Quando você entrega o cap, que seja um trem, seja um sistema elétrico, seja ventilação, quem opera são os times que já estão lá nas estações, que já estão lá nos trens. Então a gente tem vários gates durante esses processos, tanto nos treinamentos, nos manuais e aprovação, para a gente envolver o máximo possível os times operacionais.Para que depois, quando a gente conclua os testes, o comissionamento, a integração, como a gente, principalmente em trilhos, agora a gente vai ter bastante obra com 4 e 5, mas o maior montante nosso é sistemas, é trem, é sistema de ventilação principal, é energia, é subestação.É, você integra tudo com linhas operando. Então a gente dentro da Engenharia aqui, até com esse novo modelo, eu tenho um time só de integração e interface que precisa garantir que tudo aquilo que a gente define lá no começo, tanto no novo negócio.Ou quando a gente está fazendo um estudo no negócio existente, ele se integre com os sistemas existentes e a gente tem sistemas extremamente críticos, que é o sistema de sinalização, que é segurança, sistema de porta de plataforma.É, e aí tem a vida do Capex. Tem vida de 2 anos, de 3 anos, de 5 anos, de 6 anos. A linha 8 e 9. A gente está no quinto ano e ainda a gente tem 2 anos de implantação. Então aí cada um com a sua particularidade e cada negócio com a sua particularidade também.Já que tem negócio que a gente é responsável 100% do capex, outros a gente recebe do estado, mas é responsável pela integração. É. E aí, durante toda essa vida tem envolvimento de todos os times. Então a gente tem vários stakeholders, tanto externo como interno.Que acompanham tudo isso e no final de virar a chave, a gente entrega para a unidade. Então a gente faz os testes, comissiona, tem os certificados de segurança, a gente entrega, acaba a gestão do Capex? Não. A nossa gestão vai a.Até o final da garantia. Então vou dar um exemplo, a gente tem os trens da 8 e 9 que já estão rodando há 1 ano e meio e 2. Quando é que acaba a garantia deles? Só em 2028. O meu time de Engenharia, ele continua até o final.Por quê? Porque depois você tem o processo de retirada de Pendências. Você tem a curva da banheira, onde os sistemas começam a mostrar. Olha, essa interface não funcionou bem, precisa resolver isso. Tem problema de software. A gente tem muito software embarcado nos nossos sistemas, tanto em trem.Sinalização então não é só hardware.É, então a gente fica até esse final, acabou a garantia, pronto. Aí realmente o meu time é. Ele sai de campo, mas a gente continua como backoffice, porque tem vício oculto, tem problema que.Apareceu no teste em fábrica e agora esse problema foi resolvido, mas retornou. A gente faz o desmame, mas não tanto que eu brinco, aí a manutenção. Eu até falo, gente, agora o trem é de vocês. Já estão 10 anos com o trem, mas como a gente tem a expertise, principalmente em sistemas como material rodando e sinais.de Moraes de Moraes de Moraes de Moraes de Moraes de Moraes de Moraes de Moraes de Moraes de Moraes de Moraes de Moraes de Moraes de Moraes de Moraes de Moraes de Moraes de Moraes de Moraes de Moraes de Moraes de Moraes de Moraes de Moraes de Moraes de Moraes de Moraes de Moraes a</a:t>
            </a:r>
          </a:p>
          <a:p>
            <a:pPr lvl="1">
              <a:defRPr sz="1200"/>
            </a:pPr>
            <a:r>
              <a:t>Vitor Pryzbeuka   35:26Ou duplicando função também. Você está tendo duplicidade. O cara que é o cara que tá que contrata suprimentos no dia a dia é ele. Esse é o cara que tem que estar envolvido no novos negócios também. Não é uma pessoa que ela só trabalha em novos negócios, então.</a:t>
            </a:r>
          </a:p>
          <a:p>
            <a:pPr lvl="1">
              <a:defRPr sz="1200"/>
            </a:pPr>
            <a:r>
              <a:t>Tiago Esteves Terra de Sa   27:19OA é o parceiro. A empreiteira também foi pressionada a buscar eficiências. E aí a gente trabalhou muito junto com suprimentos e com Flavio para lançar mão de uma série de coisas. A gente fez faturamento direto, a gente tirou a contingência do empreiteiro e trouxe a contingência para dentro da concessionária. Então, quem gera a contingência sou eu, não é ele?A gente mudou O Mecanismo. Ele queria APMG, mas o governo queria APMG. Governo não desculpa, a empreiteira queria OPMG, mas ele tinha a base da planilha e ele IA maquiar a planilha inteira e a gente ficar é na mão do cara da planilha, porque PMG é bom quando a gente tem Engenharia.Quando a gente tem uma certa segurança da quantidade né a quantidade estava na mão dele então ele ia fazer jogo de planilha então no fim das contas como lá atrás o input era não tem espaço para história do capex PMG também para a gente não era tão tão jogo a gente preferir um PG</a:t>
            </a:r>
          </a:p>
          <a:p>
            <a:pPr lvl="1">
              <a:defRPr sz="1200"/>
            </a:pPr>
            <a:r>
              <a:t>Rodrigo Mitsuo Kise   19:36Melhor ma.Mais rápido, entendeu? Tipo, um aditivo, depois das discussões técnicas vencidas, não era para demorar, entendeu? Mas hoje você demora, entendeu? Porque quem faz o processo de aditivo, pleito, começa lá em suprimentos.</a:t>
            </a:r>
          </a:p>
          <a:p>
            <a:pPr lvl="1">
              <a:defRPr sz="1200"/>
            </a:pPr>
            <a:r>
              <a:t>Vitor Pryzbeuka   38:15De motiva trilhos existe um manual do PMO. A ponderação é sempre feita baseada em custo, é sempre feita baseada no memorial de HH da do da subcontratada. Como é que funciona essa padronização? Não sei se ela existe ou ela é feita contrata a contrato, Como É Que É?</a:t>
            </a:r>
          </a:p>
          <a:p>
            <a:pPr lvl="1">
              <a:defRPr sz="1200"/>
            </a:pPr>
            <a:r>
              <a:t>Ana Cristina Souza   7:15Okay.Trazendo essa pergunta aqui para a gente explorar um pouquinho ela, imaginemos uma realidade em que o corporativo tenha, a qualquer momento, uma visão única, confiável e atualizada do Prado Central Central Central Central CentFrancisco financeiro, contratos e riscos, sem necessidade de retrabalho ou reconciliação manual entre plataformas. Quais são hoje os 2 principais obstáculos que nos impedem de chegar a esse cenário?</a:t>
            </a:r>
          </a:p>
          <a:p>
            <a:pPr lvl="1">
              <a:defRPr sz="1200"/>
            </a:pPr>
            <a:r>
              <a:t>Gabriel Bittencourt Jacondino   4:24É trilhos, é muito assim. A concessão de trilhos é um pouquinho diferente. Vocês já trabalham na rodovia da Costa Alves da Costa Alves, então, às vezes elas fazem os paralelos. É aqui, a gente planta quase tudo no início, em plantações, que é que a gente é, faz tudo. A via faz material rodante, faz a sinalização.E basicamente depois, ao longo do ciclo, tem poucos novos investimentos. A gente tá agora, por exemplo, nas linhas 45, no inclusão de investimento, de extensão de linha.Então, basicamente, esse é o grande investimento que esse problema é assim, ele tem ali, ele nasce na unidade, nasce na questão técnica, o que a que é a área de contrato na unidade, se chega na plataforma, a plataforma é aquela que é traça. Qual a estratégia para que?Essa ideia de inclusão de investimentos vira de fato um aditivo e vira uma obrigação contratual, porque isso passa por é tecnicamente definir é qual o escopo fazer orçamento. Isso tudo de uma maneira regulada, porque eu estou vendendo uma obra para o poder público é passa também por.</a:t>
            </a:r>
          </a:p>
          <a:p>
            <a:pPr lvl="1">
              <a:defRPr sz="1200"/>
            </a:pPr>
            <a:r>
              <a:t>Paulo Henrique de Almeida Aredes   19:41Ele tem direito a ele altera a produtividade do da empreiteira e, desde que comprovado que está diferente do previsto, ele tem direito a esse ajuste automático. Então é o que regra o contrato é que mensalmente ele teria direito a essa variação ali.Então a gente tem hoje no contrato uma planilha que chama cronograma de linha de base, trazendo em português, que regra a produtividade e o que ele que ele eventualmente vai encontrar ali em cada trecho e ela já comer que ela tem uma fórmula, ela calcula automático, então se ele.</a:t>
            </a:r>
          </a:p>
          <a:p>
            <a:pPr lvl="1">
              <a:defRPr sz="1200"/>
            </a:pPr>
            <a:r>
              <a:t>Paulo Cesar Martins Amaral   29:44Difícil de justificar internamente. Então é, a gente evoluiu. A gente trabalha para que isso não aconteça mais junto com o jurídico jurídico do CSC, com suprimentos. Mas como são muitos contratos, são hoje, são quase 300 contratos.Ainda tem contratos antigos que a gente passa por essa dificuldade. Então a perda de eficiência é essa, tentando responder objetivamente, com que eu vejo do ponto de vista contratual, é contratar sem o mínimo de informação que te te dê uma segurança.Que as alterações sejam controladas durante o processo de execução.</a:t>
            </a:r>
          </a:p>
          <a:p>
            <a:pPr lvl="1">
              <a:defRPr sz="1200"/>
            </a:pPr>
            <a:r>
              <a:t>Tiago Esteves: [00:05:28] Aí você já deixa de ser aquela versão mais paramétrica. Lembra que eu comentei no um e aqui já tem uma proposta preliminar de preço com um monte de problema, um monte de assunto, um monte de plano de trabalho a ser feito. A companhia ainda acredita no projeto? Acha que faz sentido? A gente vai pro céu três. No ferro, três Ao fim do ferro três. A gente já tem o número final vinculante, então nós já vamos saber. Assim, o pacote de seis bi de obra da extensão da linha da linha 13 ou dos investimentos de revitalização da linha 11h12. A gente chega ao final do mês com uma proposta firme, que é o que é o produto final do Mou. Lembra que eu comentei com vocês que eu mou. E através do instrumento que a gente vai fazer a relação com o parceiro? Então, nós temos ferramentas diferentes. A gente pode ir através de uma ou com um parceiro para chegar nesse preço final de orçamentação. Ou a gente vai através do processo de suprimentos, que é uma RFP. Você coloca ali todos, todo, todo, todo o escopo, todos os requisitos. Aí você lança no mercado e cria uma concorrência. Os dois caminhos. No final do ferro três, você vai ter um orçamento firme e vinculante. No detalhe, navega com cronograma detalhado, com interface com todas as CPUs previstas, com preços unitários de uma contratação.</a:t>
            </a:r>
          </a:p>
          <a:p>
            <a:pPr lvl="1">
              <a:defRPr sz="1200"/>
            </a:pPr>
            <a:r>
              <a:t>Priscila Galindo   29:35É classificar aquele risco que eu não consegui mitigar e remunerar pela usando contingência. É outra coisa. É usar como aditivo contratual ou um pleito, uma coisa que talvez foi um problema de gestão ou um problema de retrabalho ou um problema de um projeto que eu tenho que mapear como lições aprendidas.</a:t>
            </a:r>
          </a:p>
          <a:p>
            <a:pPr lvl="1">
              <a:defRPr sz="1200"/>
            </a:pPr>
            <a:r>
              <a:t>Isabella Nogueira   34:45Entendi.Eu vou mudar aqui AO tema. Vocês tem alguma pergunta? É agora assim, a gente está focando um pouco mais para a interface que tem junto com o núcleo de capex, tá? Justamente porque é aonde a gente está fazendo toda essa interface e colaboração com as plataformas.Então, vamos imaginar uma realidade em que o corporativo tenha, a qualquer momento, uma visão única e confiável e atualizada de Capex consolidado, sendo físico, financeiro, contratos, riscos, sem necessidade de retrabalho ou reconciliação hoje.Para eles terem é essa, vamos dizer, essa realidade. Paulo que, na sua visão, são os 2 principais ou mais obstáculos que impedem que a gente tenha esse cenário hoje não motivo.Olhando muito aí para a sua área, tá de trilhos assim, o que você vê quando é, vocês saem aí da parte dos projetos e do desenvolvimento da plataforma em si, mas precisa ser reportado alguma coisa para o núcleo.</a:t>
            </a:r>
          </a:p>
          <a:p>
            <a:pPr lvl="1">
              <a:defRPr sz="1200"/>
            </a:pPr>
            <a:r>
              <a:t>Natalia Emy Orita Krutzsch   31:15Entendeu? Só que eu sinto um pouco de falta. Eu acho que poderia ser um pouco mais fluido e poderia. Eu acho que poderiam é.A gente poderia antecipar esses problemas. É esse ponto, entendeu? A gente poderia antes da antes da criação do contrato, no SAP, essa parametrização poderia acontecer de forma mais fluida. É, mas assim, isso envolve OCSCO centro de serviços compartilhados, que é.</a:t>
            </a:r>
          </a:p>
          <a:p>
            <a:pPr lvl="1">
              <a:defRPr sz="1200"/>
            </a:pPr>
            <a:r>
              <a:t>Priscila Galindo   41:04Exato, com certeza. Não, com certeza. É por isso que eu perguntei. Então, no final do dia, vocês vão fazendo um acompanhamento de take-off. E se ele estourar a planilha de quantidades, aí vai para um aditivo, porque eu preciso ter itens de medição.</a:t>
            </a:r>
          </a:p>
          <a:p>
            <a:pPr lvl="1">
              <a:defRPr sz="1200"/>
            </a:pPr>
            <a:r>
              <a:t>Rodrigo Mitsuo Kise   58:36É, às vezes faz. É então assim, o que eu vejo sobre isso? Poder concedente também vem amadurecendo e escutando bem. Vejo que ele tem uma certa maturidade em relação a lições aprendidas. Então o contrato da das linhas 8 e 9 que foi.O edital foi feito ali pela CPTM, foi o primeiro, foi o pioneiro, cheio de falhas, cheio de erros. O segundo, que veio para a linha 7, o TIC Campinas, ele melhorou bastante.Piorou outros aspectos, tipo assim, aspectos assim, virou uma fábrica de multas para aplicar na concessionária. Ele subiu a régua, mas em questão de prazos de capix, ele melhorou, por exemplo. E aí o edital da 11123 já veio muito melhor, entendeu?</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 de gestão de riscos, então todos os processos da de gestão de risco.Orientado do nosso procedimento é toda a parte de identificação, é classificação, análise, monitoramento dos riscos, tratamento com as medidas, é preventivas e atenuantes, é.A gente está nessa fase agora porque é uma a Motiva. Hoje ela tem uma diretoria de riscos corporativos, mas é um é um enfoque para a parte financeira do risco. O risco é identificado nas plataformas, porém quando vai para oPara centraliza, é lá na motiva, a diretoria de riscos corporativos. Eles olham o risco como um agressor ao investimento. Então você tem um valor de investimento, uma rodovia, uma linha de metrô.E você tem um risco associado que agride esse investimento por parte aqui da Engenharia de Implantação. Então, dentro da diretoria que eu estou, a gente está querendo mudar um pouco esse conceito e mostrar o risco como é uma forma de você lidar com uma contingência que é determinada. Então.Todos os projetos que estão saindo agora, a gente está fazendo um trabalho bem. É profundo de determinar as contingências que estão envolvidas nesse projeto. Então, uma obra de metrô, ela custa tanto. A gente vai contratar essa obra e a gente vai reservar um valor.Para contingências e o que compõe essa contingência? É o nosso trabalho aqui. São reuniões multidisciplinares, são é rodadas de análise de avaliação desses riscos. Até que a gente chega de um valor. E esse valor ele é.É reservado ao longo do desenvolvimento do projeto para a gente ir gerindo todos aqueles riscos, tendo riscos novos. A gente tem que ver como é que vai tratar. Materializando riscos, a gente tem que ver como que vai tratar. Então isso vai muito a ao encontro do que é.AFPU núcleo de capex tem lá uma rubrica da contingência. Então é basicamente eu faria a determinação dessa contingência por aqui. É a gestão dessa contingência. Ela tem que ter um processo que a gente não tem ainda instituído. Eu acho que é.É uma é uma das dos objetivos aqui e daí? Ao longo do projeto, a minha equipe também faz essa gestão para ir vendo se materializou ou não essas medidas estão funcionando e se tudo der certo, essa contingência sobrevive e vira resultado ou ela é utilizada para os.Isso que estão acontecendo aí. Então, basicamente a parte de gestão de risco é, eu vim para motiva para dar esse enfoque na implantação, então estou construindo isso. Então eu tenho equipes, tenho uma equipe centralizada que fica aqui, que cuida do processo.E eu tenho equipes que estão em cada vertical, então eu tenho equipe na linha 4 demais empreendimentos. A gente está iniciando a linha 5, já estamos vendo como é que vai ser a equipe. E lá essas pessoas vão ficar dedicadas à execução, ao dia a dia do risco, vai ter o fornecedor, o subcontratado que vai ser o responsável.pelo risco dele ali da execução, mas a gente tem que ficar olhando para isso. Então essa é a área de gestão de risco, é a área de gestão contratual. É o que acontecia aqui na Motiva, que pelo menos o que eu a minha percepção é que todo mundo fazia um pouco de gestão contratual, então isso está pulverizado.Você tinha um contrato, ele era assinado e ele ficava com um gestor desse contrato. Então toda a vida do contrato acontecia no âmbito daquele gestor. Então alguém vai contratar uma empresa que vai construir, sei lá, um.Vestiário numa estação.É a pessoa, é, fazia a solicitação, a engenharia, fazia especificação técnica, vai para os momentos, contrata. A partir do momento que contrata esse gestor que pediu esse contrato, ele faz toda a gestão, ele faz as medições.Ele é, fiscaliza esse cara? Ele é, faz aditivos. Então, quando eu cheguei, isso estava totalmente pulverizado, as cartas, as correspondências, os contratos, aditivos, estava tudo em cada uma das verticais, em cada uma da dos gestores.Eu estou agora há 3 meses pegando tudo isso, concentrando tudo aqui para a gente fazer. É um banco de dados grande para a gente ter controle desses contratos, para a gente ter controle das correspondências que são enviadas. Estava assim.Tudo solto, então é, cada um mandava carta do jeito que queria, cada um mandava e-mail, cada um mandava comunicação. Então hoje eu centralizei isso. Todas as cartas passam para o meu setor, são cadastradas, codificadas e são enviadas. Quando são enviadas, a gente deixa no cadastro de resposta ou não, se está com necessidade.De respostas, a gente cobra as respostas, recebe a resposta e distribui para quem é de direito. Então é pra ter um paralelo. Quando eu cheguei, se tinha uma notificação de segurança do trabalho que Era Para Ser feita, o.o responsável por segurança de trabalho da vertical mandava um e-mail para o fornecedor e falava meu senhor você tem que usar EPI e é isso ficava um registro por e-mail sem controle sem nada então hoje o que que eu né a gente instituiu aqui você manda demanda para genteS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5. Medição</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Ricardo Alexandre Pereira Benicio   51:37Esses profissionais, eu sou da época que coordenador, eu aprovava mais do que eu aprovava como diretor em determinada época. Então, assim, eu acho que você tem que dar responsabilidade. Se você não confia na pessoa, a pessoa não está fazendo o processo, troca, dá feedback, evolui.E trata. Eu acho que burocratizou e infantilizou algumas questões. Mas todo mundo tem que saber que a estrutura é matricial. Às vezes demora porque tem n ciclos de aprovação, n ciclos de não sei o quê.</a:t>
            </a:r>
          </a:p>
          <a:p>
            <a:pPr lvl="1">
              <a:defRPr sz="1200"/>
            </a:pPr>
            <a:r>
              <a:t>ANDRE LUIS TEIXEIRA OLIVEIRA FREITAS   37:35Não é mais manual, hoje é mais manual.Hoje você vou. William, por exemplo, claro, a gente tem o SAP. Aí você puxa informações lá de pagamento, Medição, tudo isso está lá. Mas até chegar na fase do SAP ali, você tem um processo manual que.Que é grande. E até naquela naquela conversa que a gente teve lá na abertura, lá no kikoff, é, eu vi um com bons olhos. A questão de ter uma ferramenta que tenha tudo isso, a gente facilitar tudo isso vai ser bom para todas as Dantas.</a:t>
            </a:r>
          </a:p>
          <a:p>
            <a:pPr lvl="1">
              <a:defRPr sz="1200"/>
            </a:pPr>
            <a:r>
              <a:t>Lucas Giraldi Rapchan Aguilar   40:08O.Cada unidade tem seu, o seu, a sua EAP, porque eles têm o seu master, que acompanha o entendimento como um todo, mas no comitê a gente traz só a fotografia do ano, então eles transformam esse cronograma, eles anualizam esse cronograma numa linha confidada de 0 a 100. Aí eles mandam para a gente aqui do integrador.Cada um manda uma planilha em Excel, a gente consolida todos eles. É de acordo com o peso de cada unidade. Isso vira aquela crua.</a:t>
            </a:r>
          </a:p>
          <a:p>
            <a:pPr lvl="1">
              <a:defRPr sz="1200"/>
            </a:pPr>
            <a:r>
              <a:t>Cesar Sampaio de Castro   33:14Cardoso, exemplo, orçamento, o último que me veio na cabeça aqui, sei lá, chegou um e-mail do pessoal da Letícia falando assim a Cezar Cezar não pessoal, para fins de orçamento, vamos atualizar o caixa de janeiro conforme o real de dezembro. Até então, essa era uma premissa financeira que não.Não poderia ter essa atualização, eu não poderia mudar o meu caixa. Tudo que eu tivesse feito antes era aquilo. Se eu tivesse gastado a mais e tivesse um caixa a mais, era estouro de orçamento. Aí a gente, putz, mas espera aí, veio uma premissa dessa, deixa eu ver melhor se é isso mesmo. Aí a gente ia conversar com Trilhos. Aí o diretor de Trilhos falava assim.Não, essa premissa não vale aqui. Aqui vocês não vão mudar. Mas o corporativo que mandou não, mas então pra gente não vale. Putz, então espera aí. Então às vezes, como você tem diretorias financeiras de núcleo do capex, às vezes o núcleo do capex dá uma diretriz, a gente fica assim, putz, será que é mesmo? Será que o financeiro está sabendo? E às vezes o financeiro.Da uni da plataforma ou do corporativo, não está? Eu sei que a Bichu Teixeira tem aumentado mais essas interfaces porque eu já falei isso porque ela falou assim, gente, a gente às vezes só recebe diretrizes conflitantes de vocês. A gente fica maluco, não, a gente vai começar a alinhar mais, só que vira e mexe você cai nisso, porque você não tem uma única área, esse é o ponto, tá? Você não tem uma única área.Dona do processo do Carlos, existe a área financeira e existe o núcleo, tá? Então assim, às vezes você pode ter diretrizes conflitantes entre elas. Isso para mim é um risco, tá? É outro ponto que é o que eu falei.Já falei para vocês, eu acho que o núcleo do capé que estava muito focado ali no output, na casca do material, e eu acho que tem oportunidade para ele ter um corpo maior de metodologia, por exemplo, é uma dor geral de todo mundo caixa.Alcaixa.Passou um tempão e não mudou, entendeu? Eu sei que a Bia tem, às vezes ela falou, não, eu tenho uma ideia de fazer, mas assim não conseguiu. Pô, faltou força, faltou time, faltou para criar um processo do caixa. É então assim, dores que são gerais de todo mundo, uma ferramenta para o caixa e tal. Isso assim a gente não tinha o Luca.Não estava tendo força de implementar isso, sabe? Eu pedi para elas, por exemplo, pessoal, a gente reporta para trilhos, reporta para rodovias e para vocês não faz sentido ser um lugar único. Elas não tiveram também tipo força de ir lá e falar assim, gente, é uma só, porque o.Trilhos gritava rodovias gritava e a gente atendia então eu falava muito isso que eles falou assim pô gente se vocês são a referência de Carla que vocês tem que botar o pé na porta e não é e decidir tal a gente sente falta disso eu acho que agora o mandato mudou tá eu já percebi isso acho que com a chegada do Valdo naComo vice-presidente, o discurso já mudou. O Valdo já deu um track assim, nós vamos ser mais atuantes e mais decisivos nas coisas. Eu falei, cara, que bom, é isso que estava faltando. Então eu já acho que o Valdo já veio com essa missão de ser mais impositivo.O núcleo do capex, ele era menos impositivo, sabe? Ele que beleza, ele criava os padrões, mas cada um se virava do seu jeito. Eu acho que agora o próprio Valdo está puxando para ele o projeto capex ali. Eu não quero saber o que vocês me falam, as necessidades, mas a gente é que vai.Vitoriar isso aqui decidir achei ótimo beleza agora temos um grande decisor Centralizado para fazer as coisas é então eu acho que é um ponto que eu colocaria como melhoria mas eu já acho que o Valdo já veio com essa missão e acho que vai ser bom sabe nesse sentido</a:t>
            </a:r>
          </a:p>
          <a:p>
            <a:pPr lvl="1">
              <a:defRPr sz="1200"/>
            </a:pPr>
            <a:r>
              <a:t>00:33:19 Letícia CardosoUma análise de um plano de negócio, seria legal, tipo assim, se vocês não têm isso, Fácil, talvez seja legal vocês começarem a se prepararem, sabe, tipo, eu tenho ansiedade, Então eu gosto que as pessoas me avisam com antecedência, então eu também aviso com Antecedência. Então eu já falo, hum… Eu não tenho essa informação, só o planejamento vai ter, eu não sei se eles também têm, vai ser difícil deles conseguirem. Foi isso o retorno que eu tive. Então assim, isso vai ser um desafio, tipo, eles vão abrir o plano de negócio pra gente? Eles vão passar o plano de negócio pra gente?</a:t>
            </a:r>
          </a:p>
          <a:p>
            <a:pPr lvl="1">
              <a:defRPr sz="1200"/>
            </a:pPr>
            <a:r>
              <a:t>NELSON SOARES NETO   36:47É, eu sei assim, olha, eu sei de alguns processos, tá? Então assim, eu não, eu também, como tem o Ricardo e assim, eu acho que é uma ótima.Vantagem a gente ter um gerente executivo de engenharia nas unidades. Então, assim, isso muito fica na mão do Ricardo. O Ricardo traz para mim as dores dele e eu tento ajudar nos bastidores.Mas, por exemplo, nós demoramos muito para contratar as nossas reformas de BSO. Por quê? Porque suprimentos tomou uma decisão diferente da nossa lá.Hora.A decisão tem que ser da unidade, até porque a responsabilidade A Entrega é da unidade.Suprimentos tem que ser dono do processo e não da definição.Se eu falar que tal empresa tem que participar do processo? Tem que botar empresa? Não. Mas essa empresa não tem capacidade financeira. Eu não quero saber. Eu quero o preço dela. Ela tem que participar do processo.É, eu acho que é isso que assim, a decisão final tem que ser da unidade, porque o risco está lá, não está aqui em suprimentos, não está aqui em Jundiaí. Na hora que der o problema, quem vai responder é quem está lá na unidade.Não vai ficar em suprimentos, suprimentos não vai assumir essa responsabilidade.</a:t>
            </a:r>
          </a:p>
          <a:p>
            <a:pPr lvl="1">
              <a:defRPr sz="1200"/>
            </a:pPr>
            <a:r>
              <a:t>Patricia Muller Ramos Kusdra   7:19Não.A gente hoje a gente usa o v360 e SAP para lançar nota e lá para a criação da medição, daquelas que eu te falei que OCS que eu crio do CSC e de tecnologia, o time que demanda da gente abre um chamado no conecta para que a gente possa lançar.A criar missão e aí depois segue o fluxo normal de lançamento.Então são essas 3 ferramentas aí no conecta tem sim, não é padronizado, não é um processo, é bom porque no conecta o cliente ele abre e ele anexa uma planilha lá para mim criar medição. E aí não é um padrão, não tem como eu hoje pegar aquilo lá que vem do conecta.Alexandre e automatizar, porque a pessoa não cria um formulário para cada Medição, ela anexa uma planilha que tem várias coisas e ali falando um pouquinho lá do conecta do que eu recebo para criar a Medição, é que acontece.O que eu vejo como problema hoje tem muitos chamados que vêm com reto, que gera retrabalho. Tem chamado que a pessoa pede para mim criar a folha, só que não tem saldo no pedido, não tem vigência. Então eu não consigo criar a folha de registro. É o volume, ele concentra.Num final período ali perto do prazo máximo que eu posso criar folha, então ele tem um gargalo, está?E também a gente tem muita dificuldade na aprovação de ter que ficar cobrando o aprovador para que ele entre e aprove a folha de registro dele. Acho que eles devem ter ouvido bastante isso nas entrevistas.</a:t>
            </a:r>
          </a:p>
          <a:p>
            <a:pPr lvl="1">
              <a:defRPr sz="1200"/>
            </a:pPr>
            <a:r>
              <a:t>Michel Simoes Araujo   31:42Ricardo. Então hoje a gente a gente não tem uma política firme de retenção e a gente também às vezes nem consegue, porque a rubrica que está vindo de fora e das propostas que o pessoal está recebendo, a empresa não consegue ficar a todo momento cobrindo. Então hoje a gente tem um impacto muito grande do.Do nossos outros players aí que estão estão com a gente no mercado e eles estão vindo aqui, porque eu te falo, eu não sei se você já fez pesquisa, mas se você for hoje tentar contratar um coordenador, um especialista ou até um próprio analista sênior de planejamento, você vai ver que demora 90 dias, porque essas pessoas, fatalmente, eles estão em algum lugar. Então, para trazer esse cara para cá, você tem que dar um plus para o cara.Então assim, até que ponto também é hoje? A gente está com essas estruturas hoje, OK, com o mercado, para você poder de repente fazer uma proposta para tirar um cara de um lugar e trazer para te ajudar aqui. Então a gente tem esse problema. Hoje o William está com problema, eu estou com problema. Eu estou com um gerente em contratação faz 90 dias.É então assim, tá complicado. Nessas rubricas de planejamento, ainda mais o mercado está aquecendo, está com várias obras, não só as nossa ainda. A gente tem AIPR, que está aí do lado, tem a eco, tem a trilha, tem o tick Tree, tem a comport, então a gente tem vários.É, digamos assim, os players que estão no mercado junto com a gente, que eles estão demandando essa mão de obra e está bem escasso. Sem contar a vale também, que é um é um concorrente direto da gente com relação a parte de estrutura de planejamento, que é uma concorrência desleal. Então a gente acaba tendo que ficar ali vendo como que a gente consegue acomodar as pessoas.</a:t>
            </a:r>
          </a:p>
          <a:p>
            <a:pPr lvl="1">
              <a:defRPr sz="1200"/>
            </a:pPr>
            <a:r>
              <a:t>Priscila Galindo   14:02Não, porque assim a gente tem é a gente já hoje a gente tem a engenho, então a gente tem o mapeamento da engenho, que é parte de medição, mas a gente AI agora eu entendi, Pereira, agora eu fiz a conexão, na verdade, assim a gente tem da engenho, que tem a medição aqui embaixo. E aí tem.A outra interface, que seria o outro sistema, que é o que você mencionou mesmo, que é o que você virou e falou assim, já vem uma tecnologia para mim, sem eu entender qual que seria a arquitetura sem ter um diagnóstico. É isso que você sentiu falta, na verdade, do outro sistema, é isso.</a:t>
            </a:r>
          </a:p>
          <a:p>
            <a:pPr lvl="1">
              <a:defRPr sz="1200"/>
            </a:pPr>
            <a:r>
              <a:t>Priscila Galindo   7:25Não por exemplo, Tiago, acho que um bom exemplo do que você trouxe hoje foi uma pergunta que eu fiz para o Alexandre hoje, Alexandre, hoje, no mapeamento que a gente tem de entrevistas dentro do quorum que a gente está fazendo de análise do núcleo de Khamis, eu tenho as principais interfaces, então quando, por exemplo, eu entro na plataforma dede Moraes ou na plataforma de rodovias por exemplo eu vejo muito superficial então por exemplo a gente e vistor entrevistou a área de administração contratual por exemplo em trilhos que hoje está sendo né mapeada né desenhada e tudo mais e aí por exemplo Rodovias eu nem tenho essa área hoje né vamos dizer assimE aí, por exemplo, eu não entrei a fundo, por exemplo, que é, por exemplo, eu estou falando de administração contratual, porque o escopo da Engenharia gira muito em torno desse tema de administração contratual. E aí eu virei e falei assim, eu virei e falei, eu virei e falei assim, Alexandre, qual que é o limite de bateria? Porque, por exemplo, hoje eu tenho 11 análise.De entrevistas e tudo mais da Engenharia, que ela entrou muito no operacional. Ela Foi lá na plataforma, lá na ponta, desenhou como é que estava, como é que estava sendo os projetos, as dificuldades, não apiando só para a parte de medição, mas.É para outras coisas também, para outros vieses. É na no ponto deles. A gente nem conseguiu ainda olhar, porque o Alexandre vai disponibilizar ainda hoje o relatório da engenho. Então aí a gente vai olhar. E aí eu perguntei para Alexandre, eu falei, Alexandre, faz sentido a gente aproveitar o relatório da engenho?Ou você entende que a gente pega alguns projetos estratégicos e a gente aprofunda nesse ponto, porque para mim é um retrabalho. Eu já tenho uma consultoria que foi lá, fez as entrevistas, já mapeou todas essas necessidades.</a:t>
            </a:r>
          </a:p>
          <a:p>
            <a:pPr lvl="1">
              <a:defRPr sz="1200"/>
            </a:pPr>
            <a:r>
              <a:t>Vanilza de Souza Pandolfo   22:25Para conhecimento e para saber que aquele risco é conhecido e está sendo acompanhado. E a gente reporta todo mês ele para e acompanha a medida de tratamento para ele não é ficar, não aumentar a criticidade e não se materializar.Mas é muito difícil assim, Priscila, é a gente ficar discutindo o que foi qualificado. Só se a pessoa não concordar mesmo. Não concordo que é crítico, porque se você fizer a medida de tratamento e tal, ele pode ser um moderado. Não, a gente não perde tempo assim. Então é muito estratégico assim, sabe?</a:t>
            </a:r>
          </a:p>
          <a:p>
            <a:pPr lvl="1">
              <a:defRPr sz="1200"/>
            </a:pPr>
            <a:r>
              <a:t>Ricardo Alexandre Pereira Benicio   22:33Vou falar um pouco de 44. Tem que ver assim, não pode se criar uma vertical de capex agora e eu, com todo respeito ao Valdo e a todo mundo que está na holding, é e criar mais trabalho para turma que está tocando a expansão da 4, porque ela já tem um processo que é o processo limitador.Do book esmeralda, a gente já tem um processo. Se vocês quiserem mudar isso, vai ser uma confusão, porque pode gerar retrabalhos e até como a gente se comunicar com o banco mundial, que é o financiador desse grande projeto. Então tem é, eu sempre digo, como eu já fui road já.</a:t>
            </a:r>
          </a:p>
          <a:p>
            <a:pPr lvl="1">
              <a:defRPr sz="1200"/>
            </a:pPr>
            <a:r>
              <a:t>Juliana Ming Martini Naressi   12:57É, eu acho que assim, se a gente for olhar ao longo aí dos últimos anos, a gente implementou muitos processos, implementou. É muita coisa bacana que vem ajudado, então toda essa parte mesmo de gestão de fornecedores, que é nova, uma validação de loff.É tudo o que é antes, era manual. A gente conseguiu agora integrar todas essas ferramentas e fazer com que isso aconteça dentro do copa. É o modelo ideal? Não, ainda não, mas faz parte aí do processo de amadurecimento após uma implementação.</a:t>
            </a:r>
          </a:p>
          <a:p>
            <a:pPr lvl="1">
              <a:defRPr sz="1200"/>
            </a:pPr>
            <a:r>
              <a:t>Camila Gil Henriques Marinheiro   49:54A medição é feita em planilha. Eu também faço em planilha. Aí eu coloco a tendência no SAP, né? Então eu faço a tendência, aí eu faço todas as minhas operações manuais, eu extraio do SAP uma COMP Campos, revejo o que eu tenho que pagar no próximo mês, né?</a:t>
            </a:r>
          </a:p>
          <a:p>
            <a:pPr lvl="1">
              <a:defRPr sz="1200"/>
            </a:pPr>
            <a:r>
              <a:t>Maria Leticia Palmieri Jaco   27:03A Entrega dentro do prazo, mas a gente tem esse gargalo, essa quantidade de aprovações sendo feitas nos últimos dias ali do fechamento, sobrecarregando muito. E daí a gente também não tem tempo para tratar uma divergência com qualidade, ou seja, a minha equipe até analisa.Trata ali a divergência. Só que volta para o processo, volta para área gestora para pedir uma troca de nota ou fazer uma correção do processo mesmo para a gente conseguir registrar. Só que daí não dá tempo. A gente pede para eliminar a medição.Entrar no próximo mês, porque não dá tempo, porque eu preciso entregar dia 30. Como é esse mês? Eu preciso entregar dia 30, se até dia 30, dia 29 a gente até estabeleceu, dermos até domingo para tratar as divergências. Então, se até dia 29 essa área inicial não der retorno, fornecedor não cancelar nota, nada disso.Vai ter que eliminar o processo. Então é um retrabalho para todas as os envolvidos. Não é só para o meu time, é um. É para o time que faz o processo também. Porque se o gestor aprovasse ali rapidamente e não.É concentrar-se somente nos últimos dias do fechamento, o processo seria mais equilibrado durante o mês, não é?</a:t>
            </a:r>
          </a:p>
          <a:p>
            <a:pPr lvl="1">
              <a:defRPr sz="1200"/>
            </a:pPr>
            <a:r>
              <a:t>Ricardo da Costa   17:09Então, quer dizer, tem ineficiência quando você tem muita intervenção manual para fazer essa ligação, para ter que ficar fazendo follow-up, viu? Esse aqui aprovou, não aprovou. Vou precisar excluir que ele gera ineficiência não só aqui, mas também para quem cria a.A medição no SAP.</a:t>
            </a:r>
          </a:p>
          <a:p>
            <a:pPr lvl="1">
              <a:defRPr sz="1200"/>
            </a:pPr>
            <a:r>
              <a:t>Maria Leticia Palmieri Jaco   11:34O que é um cockpit ali que é que é gerado através da Medição. Então, a partir da Medição criada da Folha Registro criada, a área gestora anexa esse documento na Medição e daí cai no nosso cockpit para fazer o monitoramento análise do lançamento manual.</a:t>
            </a:r>
          </a:p>
          <a:p>
            <a:pPr lvl="1">
              <a:defRPr sz="1200"/>
            </a:pPr>
            <a:r>
              <a:t>00:28:26 Letícia CardosoÉ, sei lá. Passar essa informação, então assim, eu achei isso um pouco de falta de respeito, mas tudo bem, porque ele tem informação, ele é o PMO, o Consolidador da Pantanal, ele tem essa informação. Aí tá, beleza, você foi falar com a menina, ela me explicou bonitinho o que estava acontecendo, mas assim, isso demorou um dia. Então se eu for demorar um dia pra conseguir uma informaçãozinha minúscula pra cada coisa que eu for fazer, nada.</a:t>
            </a:r>
          </a:p>
          <a:p>
            <a:pPr lvl="1">
              <a:defRPr sz="1200"/>
            </a:pPr>
            <a:r>
              <a:t>Ricardo Alexandre Pereira Benicio   12:22Engenharia de manutenção não é locomotiva, aqui é carro, aqui é carros metroviários, t UES trens urbanos elétricos que a gente chama locomotiva é a enferrovia.</a:t>
            </a:r>
          </a:p>
          <a:p>
            <a:pPr lvl="1">
              <a:defRPr sz="1200"/>
            </a:pPr>
            <a:r>
              <a:t>ANDRE LUIS TEIXEIRA OLIVEIRA FREITAS   43:25Então, o que eu acho que a gente tem uma oportunidade, como eu falei, e eu acho que eu vi uma grande é um viés ali que vocês colocaram em relação a reunir as informações. Essa ferramenta eu acho que vai facilitar para todo mundo.Desde o começo até o fim. Então foi como eu falei, lá na fase de plano de negócio, do estudo de uma nova concessão. Depois, no dia a dia, aí eu falo de Boletim de Medição, tá tudo alocado no mesmo lugar, RDO está tudo no mesmo lugar. As cartas trocadas com fornecedores e com o poder concedente estarem também no mesmo lugar.Tudo isso eu sinto muita falta. É como eu estou falando, fica muito espalhado e muito na ter que consultar pessoas aqui, aquele tempo atrás que tinha lá, aí a pessoa relembra e tal, mas onde está a carta sobre isso? Tem que ir lá pegar, não sei. Então assim, eu acho que o maior ganho.Mas, na minha visão, vai ser isso, conseguir reunir, estruturar todos esses processos dentro de algum lugar que fique fácil para qualquer um que chegar aqui, ter condições de consultar e tomar a melhor decisão.</a:t>
            </a:r>
          </a:p>
          <a:p>
            <a:pPr lvl="1">
              <a:defRPr sz="1200"/>
            </a:pPr>
            <a:r>
              <a:t>Ricardo da Costa   15:31É, então eu perco bastante nessa quando tem esse retrabalho, é se o processo ele viesse de forma correta, no tempo adequado, se todos fizessem as aprovações no tempo correto.É o fluxo. Ele seria contínuo. Hoje eu acho que em algum momento a gente vai falar sobre o sistema. Acho que tem agendado para essa semana, acho que para amanhã uma conversa para a gente olhar o sistema de medição.Hoje nós temos um sistema que chama v 360. É o sistema que a gente captura todas as notas fiscais emitidas contra OCNPJ das unidades aqui do grupo. Então, de um lado eu consigo ir lá e capturar as notas. De outro lado eu tenho a medição no SAP.E aí eu preciso fazer essa conexão entre ele, essa nota fiscal aqui é dessa, dessa medição, fazendo essa ligação, é, eu vejo que o time ali, na hora que está fazendo o lançamento, eles perdem bastante tempo, sabe? Fazendo, ligando os pontinhos. Nada desse lado é esse, é do outro.</a:t>
            </a:r>
          </a:p>
          <a:p>
            <a:pPr lvl="1">
              <a:defRPr sz="1200"/>
            </a:pPr>
            <a:r>
              <a:t>Ricardo Alexandre Pereira Benicio   32:12E eu acho importante, porque às vezes a gente perde um tempo, um tempo que é dinheiro. As pessoas às vezes não dimensionam o tempo do retrabalho, que eu acho que é um erro. O futuro é você ter exatamente o timesheet e o tempo do trabalho para a gente ser mais efetivo e assertivo. Então a gente perde tempo. Tudo bem, às vezes na engenharia, porque não tem.Profissional adequado, mas pede também suprimentos, porque o cara não tem um conhecimento real do que é o melhor para o negócio. É outra sugestão que eu dou é que de trilhos a gente tem fornecedores únicos.E não trocam, por exemplo, um sistema de sinalização de uma linha de metrô. Ela é customizada, ela é comprada, tem uma Engenharia única. Se o sistema é Augusto, não adianta eu fazer a metade da linha Siemens. Eu tenho que fazer com Augusto até o fim dessa linha.Até acabar o metrô todo que nunca acaba. Eu, se eu então trem, eu ainda posso comprar diferente, mas eu tenho que adequar a linha. Agora, sistema de sinalização é o mesmo. Então assim, tem alguns fornecedores e a gente vai assumir agora do monotrilho, que a linha 17 que vai para Congonhas.O trem é chinês, é BAIDA, sinalização é chinesa, não existe na América do sul, nem o trem, nem a sinalização. Não é igual a metrô, não é igual a trem, não é igual a ferrovia. A gente vai ter que aprender. Meu time vai ter que escrever os procedimentos, como opera e mantém esse tipo de sistema.Eu tô contando isso para só provocar as particularidades que a gente tem. É muito particular. Um trem não é igual o VLT do Rio é a solução. É Augusto. Não tem ninguém no mundo que faz aquela solução de APS, de alimentação pelo solo, só a Augusto.Eu fui a Augusto há 12 anos, eu conheço bem como é que ela não abre a Engenharia, é a Engenharia dela. A Engenharia da Augusto, que é o trem, anda sozinho, que a gente chama CBTC ou a Augusto de Safety. Só a Siemens faz da Augusto. Não adianta chamar outro fornecedor.Então vai ter que a gente talvez conectar em Engenharia. A gente tem pessoas específicas que conhecem o sistema, mas na suprimentos não tem. Às vezes o compliance não entende isso. A gente tem que entender que em trilhos temos fornecedores únicos e que não tem como trocar, porque se não se tiver.Tem como trocar, mas o negócio não fica viável porque você vai ter que trocar todo o sistema.</a:t>
            </a:r>
          </a:p>
          <a:p>
            <a:pPr lvl="1">
              <a:defRPr sz="1200"/>
            </a:pPr>
            <a:r>
              <a:t>Letícia da Silva Madella   35:55Eu tenho uma pergunta, Jean Carlos, é mais na verdade uma curiosidade que você comentou aí que, por exemplo, falando de várias áreas, querem várias coisas e aí vão surgindo uma série de iniciativas, etc. O quanto você acha que essas iniciativas, assim, da visão que você tem hoje do projeto CAPEX,O quanto você acha que essas iniciativas podem estar conectadas com toda essa questão de gestão e, principalmente, essa falta de metodologia que você mencionou? Você acha que tem alguma conexão ou não? São coisas completamente separadas.</a:t>
            </a:r>
          </a:p>
          <a:p>
            <a:pPr lvl="1">
              <a:defRPr sz="1200"/>
            </a:pPr>
            <a:r>
              <a:t>Ricardo Alexandre Pereira Benicio   23:10Não, como eu já fui road, já fui unidade e já fui estrutura matricial, eu sempre dou esse aviso, porque, com todo respeito às consultorias, tem muita consultoria que vem que não conhece o Business e aí começa a tentar padronizar e trazer algum lado que ela.Pensa que eficiência e ela traz é mais retrabalho, HH, gasto e problemas de comunicação. E a gente sabe que quem estuda projeto, mais de 70% dos projetos no mundo não dão certo. Tinen, eu acho que o índice estava em 74% por comunicação.Então, a primeira recomendação que eu daria como diretor da motiva é ter cuidado com as padronizações. Agora, para entregar mais é velocidade e assertividade. Eu acho que é cada vez se planejar melhor. Eu acho que a gente olha muito o orçamento.</a:t>
            </a:r>
          </a:p>
          <a:p>
            <a:pPr lvl="1">
              <a:defRPr sz="1200"/>
            </a:pPr>
            <a:r>
              <a:t>Vitor Pryzbeuka   6:56Então eu queria te fazer uma pergunta, desculpa, desculpa, pode concluir, não, eu queria te fazer uma pergunta difícil, mas não tem a resposta certa, tá? Então, se tivesse que resumir, qual que é o papel do Luca Ricardo de hoje na motiva?</a:t>
            </a:r>
          </a:p>
          <a:p>
            <a:pPr lvl="1">
              <a:defRPr sz="1200"/>
            </a:pPr>
            <a:r>
              <a:t>Rebeka Yang Wang   9:36Tá, além disso, eu tenho demandas que eu trato direto com as unidades, não com o corporativo. É aí tem alguns problemas também. É principalmente em relação à padronização. Então, hoje o que acontece? Cada planejamento e controle de unidade.Ele tem alguma diretriz? Ele tem alguma premissa que muitas vezes não se conversam. Então isso é um problema pra gente, assim, da gente ter que fazer tratamentos, exceções para cada planejamento.Principalmente na parte ali de planejamento orçamentário, que a gente faz aí sempre no período de agosto, julho, todos os anos, é, a gente tem essa dificuldade em relação ao que a gente manda, o número sai de nós, a gente manda para eles abertura, projeto a projeto.Mas a carga no prisma, que é o ali onde vai ser o sistema oficial, não é feita por nós. A gente não tem acesso. Então a gente manda uma planilha em Excel, eles sobem a carga, depois eu faço essa validação do que eles subiram. Eu peço para eles me mandarem essa.Essa carga que eles fizeram e muitas vezes não bate. Aí depois a gente vai atrás, entende que houve uma estratégia que alguém solicitou, que foi feito algum ajuste, mas é acaba tendo esse problema ali de comunicação em diversas demandas com as unidades.Esse foi só um exemplo.</a:t>
            </a:r>
          </a:p>
          <a:p>
            <a:pPr lvl="1">
              <a:defRPr sz="1200"/>
            </a:pPr>
            <a:r>
              <a:t>Vitor Pryzbeuka   34:43É, e assim a gente, eu percebi quando você falava, quando você explicava os processos que você tinha conhecimento de mão na massa. Até por isso que eu trouxe essas perguntas de planejamento, até a gente não IA, não IA fazer. Mas como a gente está com uns 20 minutinhos ainda e acho que você vai saber respondê-las também.Então a gente resolveu trazer, tá? Então essa primeira de planejamento é como que o planejamento físico se conecta com o controle de custos e medições. Então você já trouxe um pouco, que hoje é tudo muito manual, hoje você vai ter ali a base de informação ou vai estar no Project ou vai estar no Excel.</a:t>
            </a:r>
          </a:p>
          <a:p>
            <a:pPr lvl="1">
              <a:defRPr sz="1200"/>
            </a:pPr>
            <a:r>
              <a:t>Luiz Gustavo Degan Franchim   47:37Cardoso é difícil falar, porque a gente passou por tanta mudança desde desde que a época era desde que era CCR. Então você fala em mudança sempre tem um pouco de pessoal, sempre fica um pouco ressabiado, porque não tem tempo de Almeida da Costa. Com uma mudança, já vem outra. Mas cara, eu não, eu.Aparentemente, não vejo muita resistência.</a:t>
            </a:r>
          </a:p>
          <a:p>
            <a:pPr lvl="1">
              <a:defRPr sz="1200"/>
            </a:pPr>
            <a:r>
              <a:t>Isabella Nogueira   17:41É, e eu acho que a sua perceção só para te tranquilizar, tá? Ela é até do próprio núcleo, porque eu acho que por essa falta de direcionamento, eu acho que essa é esse também é o grande, porque que estamos aqui, o grande fim do nosso trabalho é estruturar essas interfaces, esses papéis, responsabilidades.É como as plataformas, elas andam, vamos dizer assim, com a sua vida própria, para a gestão das plataformas em si. Se eles entram muito, até eles se veem como auditores e aí eles não querem. Essa é ter essa visão do time, porque não é o objetivo. E aí eu acho que por isso que.A reestruturação do núcleo vem com essa, com esse grande objetivo de como sermos direcionadores e estratégicos para as tomadas de decisões dentro dos das plataformas. E aí, muito conectado com o que você trouxe também na sua outra resposta.É para sermos preditivos e não reativos, principalmente, então não olhar só para o retrovisor, mas também naquilo que cabe como estratégia.</a:t>
            </a:r>
          </a:p>
          <a:p>
            <a:pPr lvl="1">
              <a:defRPr sz="1200"/>
            </a:pPr>
            <a:r>
              <a:t>Priscila Galindo   0:03Só aqui para contextualizar o nosso plano de trabalho. Eita, travou, eu acho.Agora, então, o nosso plano de trabalho, a gente está nessa fase aqui, que é uma fase de diagnóstico, aonde a gente analisa como é que é a governança hoje da do núcleo de Capex? É, a gente avalia as plataformas que a gente tem de.Interface hoje, dentro do núcleo, a gente vai conduzir as entrevistas, que é o que a gente está nessa fase agora, conduzindo as entrevistas para entender melhor como é que é a atuação de cada um, como é que é feito hoje, como é que a estrutura de vocês hoje, quais são os gaps e quais são as problemáticas que vocês enfrentam no dia a dia de vocês hoje?A gente vai avaliar algumas documentações para complementar. A gente vai mapear alguns papéis, interfaces que a gente entender que é necessidade. A gente vai identificar algumas lacunas e a redundância das oportunidades. Então, basicamente nessa fase um a gente faz esse diagnóstico.Depois a gente vai para a fase 2, em que a gente vai propor modelos e desenvolvimento. Então a gente vai propor esse processo de definir estrutura organizacional, estabelece modelo de governança, desenha processos e metodologias. A gente consolida metodologias.A gente define arquitetura, aí tem a formalização das diretrizes também da gestão matricial, até a fase 3, que a gente começa a pegar todos esses processos que a gente criou e vai para a fase de implementação, onde a gente implementa esses pontos, tá? Nessa fase de proposição de modelos e desenvolvimentos, a gente cria isso tudo junto com vocês, tá?Então, obviamente, talvez não vá participar. Todo mundo que participou das entrevistas, mas pessoas chaves acabam participando dessa proposição em desenvolvimento, justamente porque consegue viver o dia a dia e tudo mais, tá? Então a gente faz essa primeira fase de diagnóstico, faz as entrevistas e depois a gente vai para uma segunda fase, que na proposição ali do.Do two b, vamos dizer assim, a gente faz um conjunto com vocês para depois ir para a fase 3 de implementação, tá? Então é basicamente esse de uma forma bem macro, bem abrangente, o nosso plano de trabalho em relação ao que a gente vai fazer aqui, tá?E aí é como é que a gente vai aplica essa metodologia? Então a gente faz essas entrevistas guiadas, que é o momento que a gente está agora. A gente também em paralelo aí, faz o entendimento dos processos e das ferramentas que hoje são utilizadas. É faz um levantamento de hipóteses, depois analisa os dados e a validação de hipóteses.Aplica framework de maturidade e classificação que a gente tem aqui internamente, e a gente faz a consolidação de diagnósticos às vezes, tá? Então todos esses passos ainda está naquela primeiro ponto chave lá, que é identificar como é que vocês fazem hoje, tá? E aí depois, segundo.Vazi a fazer o to be, que é que é o como aonde vocês querem chegar e depois a gente faz a implementação, que é basicamente a gente pegar tudo aquilo que a gente criou e implementar aí na empresa de vocês, tá?Então agora a gente vai começar a nossa parte das entrevistas, tá? Então aqui é Vanilza, antes da gente começar A Entrevista, para você ficou claro mais ou menos como é que é a nossa linha. Você quer tirar mais alguma dúvida antes da gente começar A Entrevista?</a:t>
            </a:r>
          </a:p>
          <a:p>
            <a:pPr lvl="1">
              <a:defRPr sz="1200"/>
            </a:pPr>
            <a:r>
              <a:t>Priscila Galindo   41:04Exato, com certeza. Não, com certeza. É por isso que eu perguntei. Então, no final do dia, vocês vão fazendo um acompanhamento de take-off. E se ele estourar a planilha de quantidades, aí vai para um aditivo, porque eu preciso ter itens de medição.</a:t>
            </a:r>
          </a:p>
          <a:p>
            <a:pPr lvl="1">
              <a:defRPr sz="1200"/>
            </a:pPr>
            <a:r>
              <a:t>00:10:20 Letícia CardosoE mesmo a gente mostrando que quem errou foi eles, eles ainda insistem que o errado é o sistema, Que o errado é o análise, que o errado é o acompanhamento financeiro e que eles são perfeitos. Então, por exemplo, nesse mês, eles não chegavam no valor financeiro que tinha que chegar.</a:t>
            </a:r>
          </a:p>
          <a:p>
            <a:pPr lvl="1">
              <a:defRPr sz="1200"/>
            </a:pPr>
            <a:r>
              <a:t>Afranio Nogueira Magalhaes   22:35Uma estrutura de concreto, você vai pagar como ela eu vou pagar o corte e dobra a armação, mas só pago a montagem da armação depois que concretar a peça toda. Então você cria critérios de medição para cada item da planilha. E como é que você vai medir para o empreiteiro poder?Elaborar o orçamento dele, porque isso pesa no na proposta, não é?</a:t>
            </a:r>
          </a:p>
          <a:p>
            <a:pPr lvl="1">
              <a:defRPr sz="1200"/>
            </a:pPr>
            <a:r>
              <a:t>00:40:12 Letícia CardosoPreocupante porque as engenharias, eu entendo que principalmente pra eles terem, Eles precisam ter um domínio do que está no caixa, eu entendo isso, e querendo ou não, As engenharias que apresentam CAPEX, sempre que tem alguma falta de CAPEX, então, querendo Ou não, eles tem que ter um domínio. Só que existe o planejamento financeiro, e existe a plataforma do planejamento financeiro. Então CAPEX não é só puramente o que a engenharia faz, são outros itens. E aí nisso eles quebram a cabeça, porque uma conversa do Michel fala, ah, a minha diretora.</a:t>
            </a:r>
          </a:p>
          <a:p>
            <a:pPr lvl="1">
              <a:defRPr sz="1200"/>
            </a:pPr>
            <a:r>
              <a:t>Priscila Galindo   26:27E aí, Anderson, eu vou trazer 2 pontos, está do RDO, por exemplo, hoje vocês fazem ele de forma manual ou hoje vocês não fazem. Como é que funciona?</a:t>
            </a:r>
          </a:p>
          <a:p>
            <a:pPr lvl="1">
              <a:defRPr sz="1200"/>
            </a:pPr>
            <a:r>
              <a:t>Guilherme Tellis   9:14A medição, eles vão fazer a projeção rodando como se fosse o último dia de todo do mês subsequente, para a gente ver qual que era o planejado, qual deveria ser o planejado e atualizar a tendência do projeto.Tá o baseline, ele é salvo uma única vez. Ele, tipo toda vez, todo mês de janeiro, a gente tem ali a revisão e o início do ano corrente. Então, quando a gente tem a revisão dos projetos, a entrada de projetos novos, a saída dos que foram concluídos, então é a possibilidade.De cravar o baseline para aquele ano, uma vez cravado, esse planejamento fica inalterado durante todo o ano, tá? É no começo de 2025, a gente levou para o corporativo uma proposta para que determinados.Projetos ou determinadas situações é que fogem do nosso controle e que acabam impactando a curva da unidade ou da mobilidade como um todo é fossem submetido a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6. Tendência</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Guilherme Tellis   55:38Perfeito, perfeito. É hoje, vamos dizer assim, 98% da minha base é dentro do PPM, porque ainda era é a ferramenta oficial. É, a gente está migrando por causa das continuidades da Microsoft, mas é, eu entendo que assim hoje OPPM.Como ferramenta, ele tem uma perda de rastreabilidade no sentido de, por limitações sistêmicas, eu não consigo utilizar todo o potencial dele. E aí eu preciso ter, vamos dizer assim, puxadinhos, aonde eu vou colocando as informações dos.Projetos ou alguns fluxos aonde eu poderia ter uma ferramenta que controlasse tudo e aí eu teria não só um repositório de projeto, como um projeto deve ter, mas eu teria ali toda a base de da carteira da plataforma.Tá, então acho que hoje a limitação da ferramenta é uma das coisas que eu entendo que é uma fragilidade nessa perda de rastreabilidade, porque eu coloco um caminho. Se você, Victor, foi lá e falar, não, eu vou criar um caminho paralelo aqui para.Ficar de backup, depois eu subo e nunca subi já o processo já está furado. Então acho que esse é o um ponto. Divergência entre bases. Eu acho que a gente tem pouco, porque a gente tem uma cultura, eu vejo que é a motiva e a necessaire. Ela tem uma cultura de tipo.Trabalhar com bases unificadas. Então, hoje que nem a gente tinha uma base econômica, financeira e física, separa o econômico-financeiro em uma e o físico em outra. Para esse ano a gente consolidou. Então eu trato o projeto dentro de uma única base, que econômico, físico e financeiro.Juntos, então, tipo assim, primeiro que para quem está olhando o projeto, para quem está planejando, ele consegue ter a visão em um único lugar do projeto como um todo. Eu aponto o meu fisco, eu vejo o meu desvio, eu vejo o meu impacto econômico, eu vejo o meu impacto financeiro. Então acho que isso é mitiga um pouco dessa divergência.Obviamente que quando você fala que eu tenho uma base manual, que não está em sistema, que também é ali a questão de limitação, eu tenho um risco de erro, por mais que eu tenho automações, que eu tenho, que eu faço ali, alguns cheques, que eu tenho, algumas travas que.Passam algumas pessoas de fazer determinadas movimentações, mas eu estou falando aqui a da mesma forma que uma pessoa pode errar, eu posso errar também e isso vira um número não oficial.Então, acho que são os 3 pontos, acho que eu elencaria ali, a ferramenta hoje é a questão de talvez para as unidades, para as para os pilares, que eu não tenha essa profundidade do conhecimento.Tecnologia, frotas e unidades. Eu não tenho essa rastreabilidade e aí eu tenho posso ter divergência do número deles. E quando eu não tenho isso em sistema, obviamente eu fico dependendo de 100% aí de ação manual.</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Cesar Sampaio de Castro   40:06O caixa é o caixa. O próprio pessoal falou na agenda passada, o lord falou, eu não tenho confiança em trazer. É o caixa, cara. Assim, é o caixa que eu levo como baseline forecast. É o caixa que eu acho que é, entendeu? É o é o que está na minha planilha, se você me perguntasse na.No prisma Thais, eu tenho uma certeza na vida, não é, entendeu? Não é?</a:t>
            </a:r>
          </a:p>
          <a:p>
            <a:pPr lvl="1">
              <a:defRPr sz="1200"/>
            </a:pPr>
            <a:r>
              <a:t>Tiago Esteves: [00:04:02] Só que ainda fé um e com menor nível de assertividade, sem ainda engenharia. Então tudo é paramétrico e a gente já faz todo um valuation orçamento paramétrico. Então, com base nas nossas informações internas, a gente faz um paramétrico porque é, digamos, é uma visão de ordem, de grandeza para a companhia decidir na fé um cara. Esse projeto tem essa cara, esse capex, essa estrutura. Diante dessa, dessa ordem de grandeza, joga fora, não gasta uma energia com isso ou faz sentido estudar? Então, fé um não vê um Você já tem uma projeção que ainda ela é bem paramétrica no material que a Marina trouxe e informações ainda com baixa precisão. Informações estimadas. A empresa decidiu seguir com o estudo no Fel. Dois A gente já vai fazer um investimento para ter uma maior assertividade do CAPEX. Então a gente contrata projeto de engenharia, a gente já investe na engenharia para ter maior assertividade das quantidades. Então, quando eu faço projeto funcional diário, a gente já consegue ter uma tabela de quantidades mais assertiva. A gente já começa a pegar preços mais realistas e dependendo se a gente vai fazer via sofrimentos ou com parceiros, a gente. Já os nossos parceiros, as construtoras, começam a. Diante dessas reuniões, daquelas planilhas que a Marina mostrou e dezenas de reuniões, ela começa a ter um alinhamento, um afunilamento muito grande das dúvidas, uma redução dos riscos. E ela apresenta uma proposta preliminar, já de preço não vinculante e O2O.</a:t>
            </a:r>
          </a:p>
          <a:p>
            <a:pPr lvl="1">
              <a:defRPr sz="1200"/>
            </a:pPr>
            <a:r>
              <a:t>Tiago Esteves: [00:09:57] Exatamente. E tem uma, tem uma, tem um slide que tem 24. A gente chamou de frentes funcionais. Sabe o nome? Feio, Mas são frentes funcionais. Aí que é. O Mário só troca o monitor porque isso ela tá, essas frentes aí. Então, assim, a cada disciplina você tinha um ponto focal, que é a pessoa que no futuro vai ser o responsável em implantar o que foi estudado na fase de bid de leilão, entendeu? E essa pessoa foi ela. Uma pessoa, eu nem diria envolvida, tá? Essa pessoa, ela foi uma pessoa responsável em definir as premissas de orçamentação na fase de um foi o dois e o três. Então foi ela que ativamente desenvolveu os estudos dessa disciplina. Porque se você olhar o time de IN, a gente funciona quase como um grande time dessa de toda essa ferramenta de ferro, um ferro dois. Isso é o três de estruturação ampla de tudo. Então eu vou te dar um exemplo aqui. Vou ver a parte financeira, porque é um exemplo do cara. Claro, aqui o. Indicador de Desempenho. O item 23 Aqui a Carla na fase de compra dois ou três. Nós estudamos toda a performance do projeto e é nosso risco de performance dos indicadores, né? Quando a gente ganhar o leilão e a Carla é a pessoa que a gerente é responsável por essa área de indicadores, é ela que vai implementar tudo o que foi estudado, entendeu? E tem outro slide também. Maria é outro que é um que não tem as fotinhas assim, mas se lembram que tem as frentes e do lado tem as verticais. Porque nós temos. Você lembra aquele porque tem? Tem.</a:t>
            </a:r>
          </a:p>
          <a:p>
            <a:pPr lvl="1">
              <a:defRPr sz="1200"/>
            </a:pPr>
            <a:r>
              <a:t>Fausto Camilotti   24:35Está deve ser matricial aqui. Eu sou engenheiro civil também de Moraes e tinha discussões ali que a gente tinha que acompanhar. Aí você tem que funcionar, meu amigo, que é quase um executivo, só que ele assim.Ele retrata um monte de de de de Moraes, um Moraes de situação que está na no subentendido.e vai para o jogo jogado Supply contrata projeto funcional a preço Global você fala o Santos Jesus tem poder né bicho porque ali é fadada fracasso porque Paula de Clarice pode existir a qualquer momento porque o cara vai para o escuro orçar o negócio que via de regra muda daí o que aconteceNo decorrer do trajeto, é uma enxurrada de negro pleiteando que não está rando, que não sei o que, a empresa quebrando etc. Se a gente está insistindo no erro, eu acho que cabe talvez reavaliar. Primeiro, o projeto leva todo o tempo para fazer. Você dá muito erro de gente aqui que tem na Engenharia para ficar discutindo o projeto. Por quem?Se é tudo a dentro.O que esse bando de engenheiro de Paula aqui dentro discutindo o projeto?Será que a gente não tem mais rápido de fazer ou de repente quem lidera fala assim galera vamos lá Quais são os projetos que que fez aquilo que fica um negócio ali complicado não lidar né você concorda ou nãoe concorda Costa não tem nem como concordar que a gente já sabe que até mudança tem que fazer mesmo e aí depois contrata bicho contrata com essas de Barros mal feito e vai para o mercado ainda quer fazer Joe Vitor e quer fazer NDA para a Bittencourt Jesus amado néEstão falando a fraca, eu não estou me colocando aqui como quem critica e só aponta o dedo não tá porque eu no meu caso aqui eu estou vivendo situações aqui também com creme pautado por fornecedor que eu estou tendo que discutir até o tempo de referência que a gente caminha para sublagem então assimQual que é o meu papel de novo com protagonista gente é tudo o outro tudo o outro do outro meu que que você tá fazendo aqui entendeu você tem que ter um envolvimento você tem que ter ali a pegada liderar você tem que passar lá os conceitos para o time e tem que estar junto cara pega juntoEsse negócio melhor organizado com acompanhamento eu faço reunião toda semana meu time toda semana uma vez por semana tem reunião de gestão se discute tudo tudo toda a estratégia todas as gaps da semana anteriorSituações que avançaram, avançaram e ainda uma vez por mês, eu tenho reunião de orçamento. Eu discuto, discuto todos os custos linha a linha de todas as unidades para entender exatamente se tem algum gap, se tem algum fornecedor que não atendeu, se tem alguma situação que está desviando porque.ali pontualmente, tá tendo taxa de frequência aumentada, absenteísmo, tanover, cara, essas coisas tem que fazer parte de um Lorena com indicadores Santos para você poder fazer gestão, caso contrário.você não vai conseguir né com projeto aí contrata de qualquer maneira como é que você faz um negócio depois de terminar com empresa que vai faltando auditivo e ainda escorrega a data de execução aí na sequência disso vem o poder concedenteFalta no multa.E reajuste tarifário com fator D. É uma delícia!Everton do forecast.That's a screen movie.</a:t>
            </a:r>
          </a:p>
          <a:p>
            <a:pPr lvl="1">
              <a:defRPr sz="1200"/>
            </a:pPr>
            <a:r>
              <a:t>Thais Souza Liberato Leandro   27:28Olha, hoje para monitoramento dos riscos é o Arte. Hoje a gente não utiliza planilha paralela para poder fazer gerenciamento, o que ainda não está dentro do Arte, mas está em vias D, porque nós estamos fazendo um alinhamento entre riscos corporativos.Alexandre de Fatima e Alexandre de Fatima e Alexandre de Fatima e Alexandre de Fatima e Alexandre de Fatima e Alexandre de Fatima e Alexandre de Fatima e Alexandre de Fatima e Alexandre de Fatima e Alexandre de Fatima de Fatima e Alexandre de Fatima e Alexandre de Fatima e Alexandre de Fatima e Alexandre de FatimaEles são, como é que fala, guardiões da governança, desse fluxo financeiro, de utilização de valor. Eles também têm todo o histórico e a gente obrigatoriamente.Para o risco que é para todos os riscos, tantos aqueles ativos e para os ocorridos que vieram do plano de negócio, eu tenho status lá dentro do Archer e eu tenho que fazer a extração por ele. Não tem nenhuma outra plataforma. Hoje o que a gente usa é ferramentas auxiliares, é.Para gestão de riscos, eu preciso tomar uma decisão, eu preciso fazer uma análise de Monte Carlos. Aí a gente usa ferramentas auxiliares. Agora, para o monitoramento, não é só o Wellington.</a:t>
            </a:r>
          </a:p>
          <a:p>
            <a:pPr lvl="1">
              <a:defRPr sz="1200"/>
            </a:pPr>
            <a:r>
              <a:t>01:05:23 Fabiana AbritaTodo mundo fazia planilha de Excel. E eu já rodei planilha de Excel em reunião de gestão de Archer, de Archer não, de risco. Gente, seguinte, se vocês forem pra uma ferramenta que não tem tabela, Esquece, a galera não vai fazer, vai cair por terra, eles vão fazer na tabela e vão ficar fazendo upload, vai estar sempre desatualizado, tem que ter uma ferramenta, aí a sala disse, falou, não Bia, tem aqui uma visão de input mesmo tabelar, falei, ufa, então roda porque isso funciona. Mas assim, aí essa é a minha preocupação, sempre da eficiência da ponta e não isso, entendeu? Então assim, aí isso até o Lodi, acho que eu consegui ver, porque eu falei, Lodi, eu trabalhei na ponta, eu sei o que é isso.</a:t>
            </a:r>
          </a:p>
          <a:p>
            <a:pPr lvl="1">
              <a:defRPr sz="1200"/>
            </a:pPr>
            <a:r>
              <a:t>Gustavo Henrique Lucas Jaquie   35:47É hoje, eu acho que um dos pontos assim, e aí eu vou, vou fazer um paralelo aqui também. Isso eu sofro como centro de expertise, é a parte de automação e sistemas que permitam que a gente faça isso de uma forma integrada.e sem precisar de tantos trabalhos manuais. Então, isso eu acho que é um grande gargalo que a gente tem. Então, assim, eu acho que toda vez que a gente tem que montar uma apresentação para mostrar um capex, cara, já mostra que a gente, pera aí, por que isso não sai automaticamente de onde se está?Toma de algo automatizado que eu já tenho essa informação ali em tempo real. É esse. Eu acho que seria um ponto. E eu acho que também é aí é essa consolidação, a necessidade do corporativo com a necessidade do dia a dia.Aí olhando como um todo, a hora que você falou em contratos, riscos, trazer um exemplo de riscos, a gente tem uma plataforma automatizada, o arte, que ele tem essas informações, tem tudo. Só que ele ainda carece ou carecia, porque não tem acompanhado de algumas adaptações para atender o dia a dia.Porque aí você tem um sistema que ele consegue dar uma visão para o corporativo. Só que para você fazer essa operacionalização no dia a dia, ele não é uma ferramenta amigável e customizável e ele tira recortes. Então, assim, quando eu preciso buscar um passado, pô, não tenho. Eu tenho sempre a fotografia. Espera aí, mas eu não posso ter essa fotografia, eu tenho que ter o.O filme também. Não posso ser um negócio. Qual que é a fotografia agora? Então eu acho que esse ponto de olhar a cadeia desde a da informação chegar de uma forma consolidada até ela ser operacionalizada. Eu acho que isso que é um grande desafio para a gente conseguir fazer isso.A gente vem trazendo mudanças dentro da minha área. O que a gente vem buscando é a parte de buscando um a algo, se fazer uma gestão eletrônica de documentos. A hora que fala gestão é de todo.Não olhando só um repositório. Então assim a gente vem buscando isso, alinhado com o pessoal de tecnologia, também com rodovias. Então está sendo um trabalho em conjunto, mas assim é algo que a gente precisa ter e não olhar só às vezes parte do processo. Eu tenho repositório, eu tenho, meu time tem.Só que é algo que eu, que eu tenho que fazer algumas coisas manuais hoje, extraio daqui, jogo isso, jogo para OBI, joga, pô, o quanto isso eu sou passível de erro? Eu estou fazendo aqui, parei para conversar com vocês, voltei aqui, esqueci de subir o negócio, a informação, ela já está uma informação que ela que ela é passível de erro, então assim.Eu acho que é essa automatização, mas olhando não só tem informação, é ali para o corporativo, mas ela também ser é para a base, uma informação que seja ali, que eu vá consultar ali, que eu vá, que a base utilize aquilo ali como ferramenta.</a:t>
            </a:r>
          </a:p>
          <a:p>
            <a:pPr lvl="1">
              <a:defRPr sz="1200"/>
            </a:pPr>
            <a:r>
              <a:t>01:04:51 Fabiana AbritaNão vai destruir em vez de construir? Não, não vai. Então, beleza. Aí eu decidi, o Lodge falou, gente, mas Primavera, porque acho que ele foi da Andrade, né? Ele falou, nossa, Primavera, pô, é muito difícil aplicar o Lodge. Isso eu também já vi, porque também era uma coisa que me deixava muito nervosa. Aí eu falei, parece que não precisa de recurso, parece que pode ser ligação simples de predecessor e tá tudo bem. Então, eu acho que funciona pra gente. Eu sempre tô preocupada exatamente na eficiência, porque vamos supor, o Archer, quando a gente virou,</a:t>
            </a:r>
          </a:p>
          <a:p>
            <a:pPr lvl="1">
              <a:defRPr sz="1200"/>
            </a:pPr>
            <a:r>
              <a:t>Priscila Galindo   39:49Entendi e Marcela, deixa eu fazer agora, vou para uma próxima pergunta aqui que eu acho que é mais relevante, tá? Então onde, na sua visão, o fluxo de investimentos mais perde a eficiência hoje? Então, assim, dentro da das atividades que você faz hoje e dentro daquilo que você.Faz hoje aonde você acha que, por exemplo, é mais você perde eficiência, tá? Seja por tempo, seja por retrabalho, seja por é demandar um tempo, um tempo grande naquilo, tá? E ou falta de informação que.Talvez você entenda que hoje ainda é óbvio que a gente, vocês estão estruturando, por exemplo, a gestão de riscos ainda está muito incipiente nesse nesse quesito. Então é muito difícil hoje ter lições aprendidas, informações. Então, assim, que você acha que hoje dentro da motiva?É, poderia ser feito ou e que hoje, da maneira que está, é mais complicado e perde a eficiência na no círculo aí da das coisas que você atua?</a:t>
            </a:r>
          </a:p>
          <a:p>
            <a:pPr lvl="1">
              <a:defRPr sz="1200"/>
            </a:pPr>
            <a:r>
              <a:t>Rodrigo Correa de Souza   11:51De como que são definidos os investimentos, mas olhando ali para a implantação e aí fazendo uma interface com a outra diretoria de operação e manutenção, é aonde que eu vejo assim que daria para a gente poder equalizar melhor os objetivos. É, por exemplo, quando a gente vai especificar um requisito mínimo para entrega de umde Atendimento. Quando a gente fala de qualidade, e aí eu trago muito isso do metrô, porque o metrô tem um nível de exigência muito alta. Então são obras que são projetadas para durarem no mínimo 100 anos, para poder justificar o retorno do investimento.Então, você tem uma exigência muito alta de todo tipo de material que você usa. Consequentemente, uma das minhas áreas de especialidade, que é controle de materiais, são feitos muitos ensaios, muitos ensaios mesmo para todo tipo de material, para concreto, para aço, para qualquer material que é empenhado.utilizado na obra. O último levantamento que eu fiz era coisa de tipo meio por cento de um contrato era gasto para poder justificar a qualidade dos materiais que são empregados neste tipo de empreendimento. É um custo muito alto.Ainda mais falando que são obras bilionárias, então, mas isso é um padrão metrô, metrô ele tem lá, é um plano de inspeção de serviços e materiais específicos deles. Então a gente vem com esse mesmo nível de exigência para cá. É, foi feito um processo.De adaptação, porque quando a gente traduziu para obras ferroviárias padrão CPTM, não é tão exigente como do metrô. Então a gente teve essa preocupação de trazer para a realidade. É nível de exigência de CPTME tudo mais. Só que eu acho que ainda.Ainda é um ponto que vale a pena a gente. A gente é olhar com mais cuidado, porque muitas vezes, mesmo sendo um padrão CPTM, está atendendo o requisito do contrato, está atendendo o requisito do poder concedente ali, a tesp, no caso, muitas vezes a gente poderia é.trazer mais qualidade para esse tipo de material, reduzindo a manutenção. Assim, reduzindo, não reduzindo, mas o período de manutenção, ele será ativado mais lá para frente. Então, isso acontece com umacerta frequência em estruturas metálicas, por exemplo, estruturas metálicas, você tem uma série de metodologias para você proteger aquela estrutura, dependendo do tipo de pintura que você usa, o tipo de acabamento, se é inox, se é uma pintura com uma gramatura, com uma espessura maior.Você vai precisar fazer uma manutenção naquela estrutura daqui 1015, 20 anos. Se for algo é mais barato, daqui 23 anos já você já precisa fazer uma manutenção precoce. Então, assim, esse é o tipo de coisa que acontece com frequência. Muitas vezes a gente tem aquela.Aquela é o prazo sempre é um risco pra gente, sempre é um problema. São prazos extremamente curtos, apertados, é. Então acho que é algo que poderia, pensando aí em retorno de investimento, manutenção. Só que aí pra pra poder ter um número exato. Vitor, a gente não, a gente não chegou a fazer um trabalho.Com o time de operação e manutenção, porque que é o certo nesse caso, a gente ir lá com o time de operação e manutenção, verificar quais são os principais pontos de atuação deles. É se tem esse tipo de problema. Estou lembrando aqui estruturas metálicas, que é um caso recorrente.Mas isso acontece em todas outras áreas. Então é, pode ser num túnel que a gente recebeu de alguma obra, pode ser num viaduto, numa ponte, numa passarela, na via permanente, na estação, nos acessos, então.É uma infinidade de serviços. Então, eu acho que ali a gente tem um material que vale ouro, sabe? Fazer um trabalho junto com o time de operação e manutenção, verificar para onde que está indo esse dinheiro em relação à manutenção, como que a gente poderia evitar isso desde o começo do empreendimento, desde a concepção.dele, especificando ali corretamente um material que tem uma durabilidade maior, uma metodologia executiva que traz menos não conformidades ou menos inconsistências ao longo da execução.É pensando no investimento de implantação e trazendo para o que eu conheço que são obras. Eu acho que esse é um ponto que tem um campo fértil ali para a gente poder fazer estudos, trazer é algumas decisões em conjunto aí com as 2 diretorias, tanto implantação como operação e manutenção para.Para otimizar.</a:t>
            </a:r>
          </a:p>
          <a:p>
            <a:pPr lvl="1">
              <a:defRPr sz="1200"/>
            </a:pPr>
            <a:r>
              <a:t>Sabrina Santos Pedroso   11:24É, eu vou falar mais no sentido do das dores que a gente sente como área de riscos, principalmente quando a gente questiona métricas para precificação. Então, uma das bases da precificação é dado histórico e a comparabilidade desse dado. Então, assim, uma das coisas que a gente sempre quis responder é a seguinte.É qual é o meu percentual ou meu desvio padrão de acordo com as fases de investimento? Então, a gente espera que o desvio padrão na fase de projeto é funcional, ele seja maior do que um desvio padrão em relação a valores. Quando a gente vai chegando próximo do executivo já contratado, a gente espera que o risco.de variação vai reduzindo no tempo. E é muito difícil para a gente ter esse desvio padrão, digamos assim, de variação, comparável entre projetos, para a gente ter uma métrica. E para a gente saber se quando eu estou indo num processo de novo negócio,Quando eu estou lá precificando as minhas contingências, 5% é muito ou pouco de variação em relação a contingências, é e lá dentro é um pool de riscos. Então a gente gostaria no futuro de olhar os nossos projetos, comparar eles por fases ou de ou comparar ele dentro do nível da EAP. Então, quando?Quando a gente olha, é pavimentação. Quando a gente olha estruturas de Engenharia, OAES, quando a gente olha itens lá, é dentro do orçamento. Eu não sou especialista, tá em Engenharia Civil, mas enfim, quando a gente olha dentro de um de um orçamento.</a:t>
            </a:r>
          </a:p>
          <a:p>
            <a:pPr lvl="1">
              <a:defRPr sz="1200"/>
            </a:pPr>
            <a:r>
              <a:t>Thais Souza Liberato Leandro   44:31Para poder entender do processo para poder estruturar isso, ajudar, acaba que os próprios times não tem, não tem conhecimento muito apurado de riscos. Então até para identificar um risco com os times ainda é difícil. Então hoje eu tenho que fazer treinamento constante.Com todos os times, a empresa vai crescendo. São concessões novas, muita gente nova entrando. Então, se você não treinar o tempo inteiro, você perde o aculturamento. E o que aconteceu também no ano passado só entrou muita gente. A gente não dá conta de estar sempre treinando todo mundo no time que precisa, então.</a:t>
            </a:r>
          </a:p>
          <a:p>
            <a:pPr lvl="1">
              <a:defRPr sz="1200"/>
            </a:pPr>
            <a:r>
              <a:t>01:15:44 Fabiana AbritaAí, às vezes, eu tô aqui no corredor, e aí, gente, é que lá, tá ou não? Eu ainda não tive, ainda, de novo, sabe, o passo é o seguinte, né? Mas eu gosto muito de checar a opinião, principalmente de gente que já fez de diversas formas a gestão aqui, Ou seja, que tem uma experiência, e gente também que nunca teve a experiência… Porque, às vezes, essa pessoa com muita experiência, ela tá difícil de abrir a cabeça. Eu mesma, às vezes, eu faço muitas provocações pra mim, porque a planilha de tendência que eu cheguei é sempre daquela forma.</a:t>
            </a:r>
          </a:p>
          <a:p>
            <a:pPr lvl="1">
              <a:defRPr sz="1200"/>
            </a:pPr>
            <a:r>
              <a:t>Cesar Sampaio de Castro   33:14Cardoso, exemplo, orçamento, o último que me veio na cabeça aqui, sei lá, chegou um e-mail do pessoal da Letícia falando assim a Cezar Cezar não pessoal, para fins de orçamento, vamos atualizar o caixa de janeiro conforme o real de dezembro. Até então, essa era uma premissa financeira que não.Não poderia ter essa atualização, eu não poderia mudar o meu caixa. Tudo que eu tivesse feito antes era aquilo. Se eu tivesse gastado a mais e tivesse um caixa a mais, era estouro de orçamento. Aí a gente, putz, mas espera aí, veio uma premissa dessa, deixa eu ver melhor se é isso mesmo. Aí a gente ia conversar com Trilhos. Aí o diretor de Trilhos falava assim.Não, essa premissa não vale aqui. Aqui vocês não vão mudar. Mas o corporativo que mandou não, mas então pra gente não vale. Putz, então espera aí. Então às vezes, como você tem diretorias financeiras de núcleo do capex, às vezes o núcleo do capex dá uma diretriz, a gente fica assim, putz, será que é mesmo? Será que o financeiro está sabendo? E às vezes o financeiro.Da uni da plataforma ou do corporativo, não está? Eu sei que a Bichu Teixeira tem aumentado mais essas interfaces porque eu já falei isso porque ela falou assim, gente, a gente às vezes só recebe diretrizes conflitantes de vocês. A gente fica maluco, não, a gente vai começar a alinhar mais, só que vira e mexe você cai nisso, porque você não tem uma única área, esse é o ponto, tá? Você não tem uma única área.Dona do processo do Carlos, existe a área financeira e existe o núcleo, tá? Então assim, às vezes você pode ter diretrizes conflitantes entre elas. Isso para mim é um risco, tá? É outro ponto que é o que eu falei.Já falei para vocês, eu acho que o núcleo do capé que estava muito focado ali no output, na casca do material, e eu acho que tem oportunidade para ele ter um corpo maior de metodologia, por exemplo, é uma dor geral de todo mundo caixa.Alcaixa.Passou um tempão e não mudou, entendeu? Eu sei que a Bia tem, às vezes ela falou, não, eu tenho uma ideia de fazer, mas assim não conseguiu. Pô, faltou força, faltou time, faltou para criar um processo do caixa. É então assim, dores que são gerais de todo mundo, uma ferramenta para o caixa e tal. Isso assim a gente não tinha o Luca.Não estava tendo força de implementar isso, sabe? Eu pedi para elas, por exemplo, pessoal, a gente reporta para trilhos, reporta para rodovias e para vocês não faz sentido ser um lugar único. Elas não tiveram também tipo força de ir lá e falar assim, gente, é uma só, porque o.Trilhos gritava rodovias gritava e a gente atendia então eu falava muito isso que eles falou assim pô gente se vocês são a referência de Carla que vocês tem que botar o pé na porta e não é e decidir tal a gente sente falta disso eu acho que agora o mandato mudou tá eu já percebi isso acho que com a chegada do Valdo naComo vice-presidente, o discurso já mudou. O Valdo já deu um track assim, nós vamos ser mais atuantes e mais decisivos nas coisas. Eu falei, cara, que bom, é isso que estava faltando. Então eu já acho que o Valdo já veio com essa missão de ser mais impositivo.O núcleo do capex, ele era menos impositivo, sabe? Ele que beleza, ele criava os padrões, mas cada um se virava do seu jeito. Eu acho que agora o próprio Valdo está puxando para ele o projeto capex ali. Eu não quero saber o que vocês me falam, as necessidades, mas a gente é que vai.Vitoriar isso aqui decidir achei ótimo beleza agora temos um grande decisor Centralizado para fazer as coisas é então eu acho que é um ponto que eu colocaria como melhoria mas eu já acho que o Valdo já veio com essa missão e acho que vai ser bom sabe nesse sentido</a:t>
            </a:r>
          </a:p>
          <a:p>
            <a:pPr lvl="1">
              <a:defRPr sz="1200"/>
            </a:pPr>
            <a:r>
              <a:t>Gabriel Mourão Machado   18:36Perfeito. E planilhas externas assim de dados você considera importante, mas que estão sendo colocados em planilhas que acaba tendo um risco de perda de dados ali. Você enxerga que existe isso na sua área ou não?</a:t>
            </a:r>
          </a:p>
          <a:p>
            <a:pPr lvl="1">
              <a:defRPr sz="1200"/>
            </a:pPr>
            <a:r>
              <a:t>Jean Carlos Bonin da Silva   51:34Sem problema, fica à vontade.Toda a gente tem lá na nesse arquivo, a gente tem o previsto realizado e tendência. Então, se caso tiver OK, que a gente traçou no início do ano, só preenche o real e a tendência está OK. Se caso mudou, eu preencho tudo que está lá.Que é o previsto real para os próximos meses, tanto para os próximos anos. E o que tem lá? Tem informações de físico, que é percentual, porque a gente tem uma linha fechada lá e informação de econômico, financeiro nessa planilha e o resto tá tudo mais dentro de casa.</a:t>
            </a:r>
          </a:p>
          <a:p>
            <a:pPr lvl="1">
              <a:defRPr sz="1200"/>
            </a:pPr>
            <a:r>
              <a:t>Ana Cristina Souza   7:15Okay.Trazendo essa pergunta aqui para a gente explorar um pouquinho ela, imaginemos uma realidade em que o corporativo tenha, a qualquer momento, uma visão única, confiável e atualizada do Prado Central Central Central Central CentFrancisco financeiro, contratos e riscos, sem necessidade de retrabalho ou reconciliação manual entre plataformas. Quais são hoje os 2 principais obstáculos que nos impedem de chegar a esse cenário?</a:t>
            </a:r>
          </a:p>
          <a:p>
            <a:pPr lvl="1">
              <a:defRPr sz="1200"/>
            </a:pPr>
            <a:r>
              <a:t>Ana Laura Marocolo Marigo   8:33Então, por exemplo, quais são as informações que nós aqui do PMO fornecemos para o NMC, uma delas O acompanhamento físico da MetaCapex. Então, como que funciona? Eu tenhoTodo o capex que eu preciso realizar dentro do ano de 2026.Tá então aí dentro de todo o capex que eu tenho para realizar, eu tenho os meus cronogramas dos empreendimentos, que na maioria das vezes não são cronogramas com uma duração de 1 ano, então os nossos cronogramas.Acabam se estendendo por mais anos e aí a gente pega todo o capex que eu tenho do ano de 2026.Eu analiso quais são os meus principais projetos que representam pelo pelo menos 80% da minha carteira e recorto uma fatia do meu cronograma do empreendimento, que é o esforço que eu tenho que fazer no ano de 2026.E estabeleço que aquela fatia do meu empreendimento é a meta que eu tenho que cumprir física esse ano para que eu tenha o meu desempenho de Capex planejado realizado.E aí a gente tem toda uma planilha que a gente faz, a gente alimenta de informações, apura o desvio e tudo mais, justificativas e a gente gera uma curva de tendência física.Para a meta capex do ano de 2026, isso é um dos entregáveis que a gente faz para o núcleo de Capex.</a:t>
            </a:r>
          </a:p>
          <a:p>
            <a:pPr lvl="1">
              <a:defRPr sz="1200"/>
            </a:pPr>
            <a:r>
              <a:t>00:21:21 Flávio PimentelÀs vezes o financeiro não concorda com aquele que é a posição de engenharia, E a gente aqui fica no núcleo tentando consolidar essas duas visões numa única tendência. Pior, é que você não tem uma ferramenta, então a gente tem que fazer isso manual.</a:t>
            </a:r>
          </a:p>
          <a:p>
            <a:pPr lvl="1">
              <a:defRPr sz="1200"/>
            </a:pPr>
            <a:r>
              <a:t>Priscila Galindo   29:35É classificar aquele risco que eu não consegui mitigar e remunerar pela usando contingência. É outra coisa. É usar como aditivo contratual ou um pleito, uma coisa que talvez foi um problema de gestão ou um problema de retrabalho ou um problema de um projeto que eu tenho que mapear como lições aprendidas.</a:t>
            </a:r>
          </a:p>
          <a:p>
            <a:pPr lvl="1">
              <a:defRPr sz="1200"/>
            </a:pPr>
            <a:r>
              <a:t>Isabella Nogueira   34:45Entendi.Eu vou mudar aqui AO tema. Vocês tem alguma pergunta? É agora assim, a gente está focando um pouco mais para a interface que tem junto com o núcleo de capex, tá? Justamente porque é aonde a gente está fazendo toda essa interface e colaboração com as plataformas.Então, vamos imaginar uma realidade em que o corporativo tenha, a qualquer momento, uma visão única e confiável e atualizada de Capex consolidado, sendo físico, financeiro, contratos, riscos, sem necessidade de retrabalho ou reconciliação hoje.Para eles terem é essa, vamos dizer, essa realidade. Paulo que, na sua visão, são os 2 principais ou mais obstáculos que impedem que a gente tenha esse cenário hoje não motivo.Olhando muito aí para a sua área, tá de trilhos assim, o que você vê quando é, vocês saem aí da parte dos projetos e do desenvolvimento da plataforma em si, mas precisa ser reportado alguma coisa para o núcleo.</a:t>
            </a:r>
          </a:p>
          <a:p>
            <a:pPr lvl="1">
              <a:defRPr sz="1200"/>
            </a:pPr>
            <a:r>
              <a:t>Thais Souza Liberato Leandro   31:12Está sendo desenhado, eu vou dizer assim muito honestamente para vocês que antes, vamos lá, em até o início de 25, a gente fazia gestão de riscos em Excel.E aí a gente tinha um bilhão de planilhas e montava um BIE. Aí a gente não conseguia trazer uma visão mais estratégica. Aí no início do ano passado, a gente migrou toda a gestão de riscos para dentro do arte. É, a gente conseguiu desenvolver.Uma visão gerencial mínima, porque a plataforma ela é muito limitada para é recurso visual, então hoje eu criei um dash lá dentro, onde ele traz.KPIs a gente começou a desenvolver agora eu estou com uma nova gestão até acabei de fazer uma reunião com ele ele me pediu alguns KPIs hoje a plataforma ela me dá todas as informações só que a gente ainda não tem extraído essas informações de uma forma ainda mais estratégica do que aquilo que é exigido hoje em comitê em agendas de governançaDança.</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Detalhamento: 7. Fiscal (NF) &amp; Pagamento</a:t>
            </a:r>
          </a:p>
        </p:txBody>
      </p:sp>
      <p:sp>
        <p:nvSpPr>
          <p:cNvPr id="3" name="Content Placeholder 2"/>
          <p:cNvSpPr>
            <a:spLocks noGrp="1"/>
          </p:cNvSpPr>
          <p:nvPr>
            <p:ph idx="1"/>
          </p:nvPr>
        </p:nvSpPr>
        <p:spPr/>
        <p:txBody>
          <a:bodyPr wrap="square"/>
          <a:lstStyle/>
          <a:p/>
          <a:p>
            <a:pPr>
              <a:defRPr b="1"/>
            </a:pPr>
            <a:r>
              <a:t>Evidências e Falhas Encontradas:</a:t>
            </a:r>
          </a:p>
          <a:p>
            <a:pPr lvl="1">
              <a:defRPr sz="1200"/>
            </a:pPr>
            <a:r>
              <a:t>Vitor Pryzbeuka   13:02resolvido ou minimizado, tá? Eu queria fazer uma provocação aqui, Lucas, no sentido de Almeida, imagina um cenário onde o corporativo a gente pode colocar na figura do núcleo de Cardoso.O núcleo de Capex tem uma visão única, confiável, atualizada do Capex consolidado, financeiro, contratos e riscos é sem necessidade de retrabalho, reconciliação manual entre as plataformas.Pode citar pra gente o que você acha que seria só 23 principais obstáculos para que a gente tem que tem que é superar para chegar num cenário utópico desse aqui.</a:t>
            </a:r>
          </a:p>
          <a:p>
            <a:pPr lvl="1">
              <a:defRPr sz="1200"/>
            </a:pPr>
            <a:r>
              <a:t>Tiago Esteves: [00:04:02] Só que ainda fé um e com menor nível de assertividade, sem ainda engenharia. Então tudo é paramétrico e a gente já faz todo um valuation orçamento paramétrico. Então, com base nas nossas informações internas, a gente faz um paramétrico porque é, digamos, é uma visão de ordem, de grandeza para a companhia decidir na fé um cara. Esse projeto tem essa cara, esse capex, essa estrutura. Diante dessa, dessa ordem de grandeza, joga fora, não gasta uma energia com isso ou faz sentido estudar? Então, fé um não vê um Você já tem uma projeção que ainda ela é bem paramétrica no material que a Marina trouxe e informações ainda com baixa precisão. Informações estimadas. A empresa decidiu seguir com o estudo no Fel. Dois A gente já vai fazer um investimento para ter uma maior assertividade do CAPEX. Então a gente contrata projeto de engenharia, a gente já investe na engenharia para ter maior assertividade das quantidades. Então, quando eu faço projeto funcional diário, a gente já consegue ter uma tabela de quantidades mais assertiva. A gente já começa a pegar preços mais realistas e dependendo se a gente vai fazer via sofrimentos ou com parceiros, a gente. Já os nossos parceiros, as construtoras, começam a. Diante dessas reuniões, daquelas planilhas que a Marina mostrou e dezenas de reuniões, ela começa a ter um alinhamento, um afunilamento muito grande das dúvidas, uma redução dos riscos. E ela apresenta uma proposta preliminar, já de preço não vinculante e O2O.</a:t>
            </a:r>
          </a:p>
          <a:p>
            <a:pPr lvl="1">
              <a:defRPr sz="1200"/>
            </a:pPr>
            <a:r>
              <a:t>00:54:22 Flávio PimentelDe planejamento. Esse manual de planejamento tem que ser anexo em todos os nossos contratos. E aí a gente começa a estabelecer. Então isso é um problema e eu acredito que, é por isso que eu estou dizendo, como o Waldo, Não é de CAPEX, eu não sei se ele vai chegar nesse nível do que ele espera do núcleo, Nessa granularidade. Ele vai falar, ah, eu quero que ele seja eficiente e tal ponto, assim, assim, outro. Mas eu estou dando a minha visão aqui de núcleo, onde que a gente, como CAPEX, precisa entrar. O endereço contratual é um problema muito grande para a gente.</a:t>
            </a:r>
          </a:p>
          <a:p>
            <a:pPr lvl="1">
              <a:defRPr sz="1200"/>
            </a:pPr>
            <a:r>
              <a:t>Vitor Pryzbeuka   30:12O Luca, e aí sobre esse processo, ele é bem manual, a gente pode ver que mesmo com o esforço do time algumas coisas ficam faltando, igual a gente falou, que iniciativas já foram tentadas.</a:t>
            </a:r>
          </a:p>
          <a:p>
            <a:pPr lvl="1">
              <a:defRPr sz="1200"/>
            </a:pPr>
            <a:r>
              <a:t>Gabriel Mourão Machado   34:14Perfeito.Acho que ficou bem claro essa parte e é interessante ouvir isso, porque mais pessoas já relataram essa mesma questão de duplicidade, desse vai e volta da informação que muitas vezes vieram no telefone sem fio ou também é uma perda de Lead Time e a informação poderia ocorrer.Mais rápido, internamente dentro da empresa.</a:t>
            </a:r>
          </a:p>
          <a:p>
            <a:pPr lvl="1">
              <a:defRPr sz="1200"/>
            </a:pPr>
            <a:r>
              <a:t>01:04:51 Fabiana AbritaNão vai destruir em vez de construir? Não, não vai. Então, beleza. Aí eu decidi, o Lodge falou, gente, mas Primavera, porque acho que ele foi da Andrade, né? Ele falou, nossa, Primavera, pô, é muito difícil aplicar o Lodge. Isso eu também já vi, porque também era uma coisa que me deixava muito nervosa. Aí eu falei, parece que não precisa de recurso, parece que pode ser ligação simples de predecessor e tá tudo bem. Então, eu acho que funciona pra gente. Eu sempre tô preocupada exatamente na eficiência, porque vamos supor, o Archer, quando a gente virou,</a:t>
            </a:r>
          </a:p>
          <a:p>
            <a:pPr lvl="1">
              <a:defRPr sz="1200"/>
            </a:pPr>
            <a:r>
              <a:t>Priscila Galindo   39:49Entendi e Marcela, deixa eu fazer agora, vou para uma próxima pergunta aqui que eu acho que é mais relevante, tá? Então onde, na sua visão, o fluxo de investimentos mais perde a eficiência hoje? Então, assim, dentro da das atividades que você faz hoje e dentro daquilo que você.Faz hoje aonde você acha que, por exemplo, é mais você perde eficiência, tá? Seja por tempo, seja por retrabalho, seja por é demandar um tempo, um tempo grande naquilo, tá? E ou falta de informação que.Talvez você entenda que hoje ainda é óbvio que a gente, vocês estão estruturando, por exemplo, a gestão de riscos ainda está muito incipiente nesse nesse quesito. Então é muito difícil hoje ter lições aprendidas, informações. Então, assim, que você acha que hoje dentro da motiva?É, poderia ser feito ou e que hoje, da maneira que está, é mais complicado e perde a eficiência na no círculo aí da das coisas que você atua?</a:t>
            </a:r>
          </a:p>
          <a:p>
            <a:pPr lvl="1">
              <a:defRPr sz="1200"/>
            </a:pPr>
            <a:r>
              <a:t>Lucas Giraldi Rapchan Aguilar   16:56Alexandre de Morais de Moraes, a gente faz o nosso financeiro com um relatório que chama da é um relatório da análises que a gente chama.Que é uma planilha de Excel que cara, é uma planilha que exige uma série de tratamentos. Ali você tem que somar uma aba com a outra. Você tem uma série de valores que vem sem.É.Sem um vínculo com nada. Então a gente tem que pegar os valores relevantes, entrar em contato com o pessoal lá do planejamento financeiro da unidade e falar, cara, tem esse valor grande aqui, que é isso aqui, é um caução, isso aqui é um adiantamento que eu fiz, não. A gente teve um ressarcimento de um seguro. Às vezes, a própria unidade de negócio faz um input manual ali no fluxo de caixa que a gente não sabe o que é.Cara, essa de longe é a minha maior dor e a maior, no meu ponto de vista, a maior fragilidade no comitê de Carlos que te apresenta ali. Não sei se você estava no último comitê, Vitor. O lógico começou falando que ele ia apresentar sem ter muita segurança dos valores que ele</a:t>
            </a:r>
          </a:p>
          <a:p>
            <a:pPr lvl="1">
              <a:defRPr sz="1200"/>
            </a:pPr>
            <a:r>
              <a:t>Natalia Emy Orita Krutzsch   19:04É, são informações que eu gero, que a os as, vamos dizer assim, as informações relevantes, os pontos críticos sobem para o comitê. Mas o como eu produzo a informação é diferente. Por que eu estou te trazendo isso? É hoje eu tenho um master plan com ganthi de cada obrigação contratual.E o acompanhamento dela tá de forma visual. É que foi uma dor que a gente trouxe para Verum, que a que isso é muito manual, tá? Só que isso está dentro da plataforma. Rodovias e uma outra dor que a gente também já levou, já levou para vocês.</a:t>
            </a:r>
          </a:p>
          <a:p>
            <a:pPr lvl="1">
              <a:defRPr sz="1200"/>
            </a:pPr>
            <a:r>
              <a:t>ANDRE LUIS TEIXEIRA OLIVEIRA FREITAS   37:35Não é mais manual, hoje é mais manual.Hoje você vou. William, por exemplo, claro, a gente tem o SAP. Aí você puxa informações lá de pagamento, Medição, tudo isso está lá. Mas até chegar na fase do SAP ali, você tem um processo manual que.Que é grande. E até naquela naquela conversa que a gente teve lá na abertura, lá no kikoff, é, eu vi um com bons olhos. A questão de ter uma ferramenta que tenha tudo isso, a gente facilitar tudo isso vai ser bom para todas as Dantas.</a:t>
            </a:r>
          </a:p>
          <a:p>
            <a:pPr lvl="1">
              <a:defRPr sz="1200"/>
            </a:pPr>
            <a:r>
              <a:t>Ricardo Alexandre Pereira Benicio   51:37Esses profissionais, eu sou da época que coordenador, eu aprovava mais do que eu aprovava como diretor em determinada época. Então, assim, eu acho que você tem que dar responsabilidade. Se você não confia na pessoa, a pessoa não está fazendo o processo, troca, dá feedback, evolui.E trata. Eu acho que burocratizou e infantilizou algumas questões. Mas todo mundo tem que saber que a estrutura é matricial. Às vezes demora porque tem n ciclos de aprovação, n ciclos de não sei o quê.</a:t>
            </a:r>
          </a:p>
          <a:p>
            <a:pPr lvl="1">
              <a:defRPr sz="1200"/>
            </a:pPr>
            <a:r>
              <a:t>Rodrigo Correa de Souza   11:51De como que são definidos os investimentos, mas olhando ali para a implantação e aí fazendo uma interface com a outra diretoria de operação e manutenção, é aonde que eu vejo assim que daria para a gente poder equalizar melhor os objetivos. É, por exemplo, quando a gente vai especificar um requisito mínimo para entrega de umde Atendimento. Quando a gente fala de qualidade, e aí eu trago muito isso do metrô, porque o metrô tem um nível de exigência muito alta. Então são obras que são projetadas para durarem no mínimo 100 anos, para poder justificar o retorno do investimento.Então, você tem uma exigência muito alta de todo tipo de material que você usa. Consequentemente, uma das minhas áreas de especialidade, que é controle de materiais, são feitos muitos ensaios, muitos ensaios mesmo para todo tipo de material, para concreto, para aço, para qualquer material que é empenhado.utilizado na obra. O último levantamento que eu fiz era coisa de tipo meio por cento de um contrato era gasto para poder justificar a qualidade dos materiais que são empregados neste tipo de empreendimento. É um custo muito alto.Ainda mais falando que são obras bilionárias, então, mas isso é um padrão metrô, metrô ele tem lá, é um plano de inspeção de serviços e materiais específicos deles. Então a gente vem com esse mesmo nível de exigência para cá. É, foi feito um processo.De adaptação, porque quando a gente traduziu para obras ferroviárias padrão CPTM, não é tão exigente como do metrô. Então a gente teve essa preocupação de trazer para a realidade. É nível de exigência de CPTME tudo mais. Só que eu acho que ainda.Ainda é um ponto que vale a pena a gente. A gente é olhar com mais cuidado, porque muitas vezes, mesmo sendo um padrão CPTM, está atendendo o requisito do contrato, está atendendo o requisito do poder concedente ali, a tesp, no caso, muitas vezes a gente poderia é.trazer mais qualidade para esse tipo de material, reduzindo a manutenção. Assim, reduzindo, não reduzindo, mas o período de manutenção, ele será ativado mais lá para frente. Então, isso acontece com umacerta frequência em estruturas metálicas, por exemplo, estruturas metálicas, você tem uma série de metodologias para você proteger aquela estrutura, dependendo do tipo de pintura que você usa, o tipo de acabamento, se é inox, se é uma pintura com uma gramatura, com uma espessura maior.Você vai precisar fazer uma manutenção naquela estrutura daqui 1015, 20 anos. Se for algo é mais barato, daqui 23 anos já você já precisa fazer uma manutenção precoce. Então, assim, esse é o tipo de coisa que acontece com frequência. Muitas vezes a gente tem aquela.Aquela é o prazo sempre é um risco pra gente, sempre é um problema. São prazos extremamente curtos, apertados, é. Então acho que é algo que poderia, pensando aí em retorno de investimento, manutenção. Só que aí pra pra poder ter um número exato. Vitor, a gente não, a gente não chegou a fazer um trabalho.Com o time de operação e manutenção, porque que é o certo nesse caso, a gente ir lá com o time de operação e manutenção, verificar quais são os principais pontos de atuação deles. É se tem esse tipo de problema. Estou lembrando aqui estruturas metálicas, que é um caso recorrente.Mas isso acontece em todas outras áreas. Então é, pode ser num túnel que a gente recebeu de alguma obra, pode ser num viaduto, numa ponte, numa passarela, na via permanente, na estação, nos acessos, então.É uma infinidade de serviços. Então, eu acho que ali a gente tem um material que vale ouro, sabe? Fazer um trabalho junto com o time de operação e manutenção, verificar para onde que está indo esse dinheiro em relação à manutenção, como que a gente poderia evitar isso desde o começo do empreendimento, desde a concepção.dele, especificando ali corretamente um material que tem uma durabilidade maior, uma metodologia executiva que traz menos não conformidades ou menos inconsistências ao longo da execução.É pensando no investimento de implantação e trazendo para o que eu conheço que são obras. Eu acho que esse é um ponto que tem um campo fértil ali para a gente poder fazer estudos, trazer é algumas decisões em conjunto aí com as 2 diretorias, tanto implantação como operação e manutenção para.Para otimizar.</a:t>
            </a:r>
          </a:p>
          <a:p>
            <a:pPr lvl="1">
              <a:defRPr sz="1200"/>
            </a:pPr>
            <a:r>
              <a:t>Sérgio Junior da Costa Alves   18:29Eu acho que acredito que é essa pergunta, é a segunda que você falou, essa falta de integração entre sistemas, não ter sistemas para controlar as informações de Caps mentalizados, isso, planilhas.</a:t>
            </a:r>
          </a:p>
          <a:p>
            <a:pPr lvl="1">
              <a:defRPr sz="1200"/>
            </a:pPr>
            <a:r>
              <a:t>Lucas Giraldi Rapchan Aguilar   40:08O.Cada unidade tem seu, o seu, a sua EAP, porque eles têm o seu master, que acompanha o entendimento como um todo, mas no comitê a gente traz só a fotografia do ano, então eles transformam esse cronograma, eles anualizam esse cronograma numa linha confidada de 0 a 100. Aí eles mandam para a gente aqui do integrador.Cada um manda uma planilha em Excel, a gente consolida todos eles. É de acordo com o peso de cada unidade. Isso vira aquela crua.</a:t>
            </a:r>
          </a:p>
          <a:p>
            <a:pPr lvl="1">
              <a:defRPr sz="1200"/>
            </a:pPr>
            <a:r>
              <a:t>Isabella Nogueira   11:26Obrigada, viu? Ramo e aí você comentou um pouco sobre essa questão. A gente sabe que sim, precisamos de uma reestruturação de um novo sistema de integração de dados, mas hoje, principalmente assim, é AO time de tecnologia de arquitetura de dados consegue ter um controle desse.Dessas desses controles em paralelo ou não necessariamente, porque são muitos. Hoje você já viu algum tipo que principalmente ali, quando a gente tem a interface com o núcleo, é uma informação que o time motiva sabe que não é algo.</a:t>
            </a:r>
          </a:p>
          <a:p>
            <a:pPr lvl="1">
              <a:defRPr sz="1200"/>
            </a:pPr>
            <a:r>
              <a:t>Emilio Simon Povoa   1:56Bom, é. Eu sou engenheiro civil, eu atuo é nessa área de gestão de contratos, gestão de risco, é planejamento e controle, mas na área de controle de obras de infraestrutura há mais de 15 anos.Passei por grandes construtoras, obras, portos, túneis, obras mitroviárias e a Motiva me convidou para vir para cá no final do ano passado, justamente para estruturar essa área de contratos e riscos, que é uma área que.É, não existia esses esses temas. Eles estavam diluídos em outras áreas. Então, até pelo nível de investimento que vai começar até agora, principalmente a linha 4 já está iniciando, a linha 5 está para sair.e tem essa grande investimento vai ser baseado em obras de estudo, então a MOTIV ela tem muito conhecimento e expertise em sistemas e operação, metroviária, operaçãoO RT nas rodovias, mas essa parte de implantação aqui em Trilhos, principalmente das obras civis, foi uma coisa que eles estavam preocupados, porque a equipe aqui estava muito direcionada para operação e manutenção.Então eu vim como outras pessoas para compor essa equipe e hoje, qual que é o meu objetivo aqui? É instituir a área de gestão de riscos, então todos os processos da de gestão de risco.Orientado do nosso procedimento é toda a parte de identificação, é classificação, análise, monitoramento dos riscos, tratamento com as medidas, é preventivas e atenuantes, é.A gente está nessa fase agora porque é uma a Motiva. Hoje ela tem uma diretoria de riscos corporativos, mas é um é um enfoque para a parte financeira do risco. O risco é identificado nas plataformas, porém quando vai para oPara centraliza, é lá na motiva, a diretoria de riscos corporativos. Eles olham o risco como um agressor ao investimento. Então você tem um valor de investimento, uma rodovia, uma linha de metrô.E você tem um risco associado que agride esse investimento por parte aqui da Engenharia de Implantação. Então, dentro da diretoria que eu estou, a gente está querendo mudar um pouco esse conceito e mostrar o risco como é uma forma de você lidar com uma contingência que é determinada. Então.Todos os projetos que estão saindo agora, a gente está fazendo um trabalho bem. É profundo de determinar as contingências que estão envolvidas nesse projeto. Então, uma obra de metrô, ela custa tanto. A gente vai contratar essa obra e a gente vai reservar um valor.Para contingências e o que compõe essa contingência? É o nosso trabalho aqui. São reuniões multidisciplinares, são é rodadas de análise de avaliação desses riscos. Até que a gente chega de um valor. E esse valor ele é.É reservado ao longo do desenvolvimento do projeto para a gente ir gerindo todos aqueles riscos, tendo riscos novos. A gente tem que ver como é que vai tratar. Materializando riscos, a gente tem que ver como que vai tratar. Então isso vai muito a ao encontro do que é.AFPU núcleo de capex tem lá uma rubrica da contingência. Então é basicamente eu faria a determinação dessa contingência por aqui. É a gestão dessa contingência. Ela tem que ter um processo que a gente não tem ainda instituído. Eu acho que é.É uma é uma das dos objetivos aqui e daí? Ao longo do projeto, a minha equipe também faz essa gestão para ir vendo se materializou ou não essas medidas estão funcionando e se tudo der certo, essa contingência sobrevive e vira resultado ou ela é utilizada para os.Isso que estão acontecendo aí. Então, basicamente a parte de gestão de risco é, eu vim para motiva para dar esse enfoque na implantação, então estou construindo isso. Então eu tenho equipes, tenho uma equipe centralizada que fica aqui, que cuida do processo.E eu tenho equipes que estão em cada vertical, então eu tenho equipe na linha 4 demais empreendimentos. A gente está iniciando a linha 5, já estamos vendo como é que vai ser a equipe. E lá essas pessoas vão ficar dedicadas à execução, ao dia a dia do risco, vai ter o fornecedor, o subcontratado que vai ser o responsável.pelo risco dele ali da execução, mas a gente tem que ficar olhando para isso. Então essa é a área de gestão de risco, é a área de gestão contratual. É o que acontecia aqui na Motiva, que pelo menos o que eu a minha percepção é que todo mundo fazia um pouco de gestão contratual, então isso está pulverizado.Você tinha um contrato, ele era assinado e ele ficava com um gestor desse contrato. Então toda a vida do contrato acontecia no âmbito daquele gestor. Então alguém vai contratar uma empresa que vai construir, sei lá, um.Vestiário numa estação.É a pessoa, é, fazia a solicitação, a engenharia, fazia especificação técnica, vai para os momentos, contrata. A partir do momento que contrata esse gestor que pediu esse contrato, ele faz toda a gestão, ele faz as medições.Ele é, fiscaliza esse cara? Ele é, faz aditivos. Então, quando eu cheguei, isso estava totalmente pulverizado, as cartas, as correspondências, os contratos, aditivos, estava tudo em cada uma das verticais, em cada uma da dos gestores.Eu estou agora há 3 meses pegando tudo isso, concentrando tudo aqui para a gente fazer. É um banco de dados grande para a gente ter controle desses contratos, para a gente ter controle das correspondências que são enviadas. Estava assim.Tudo solto, então é, cada um mandava carta do jeito que queria, cada um mandava e-mail, cada um mandava comunicação. Então hoje eu centralizei isso. Todas as cartas passam para o meu setor, são cadastradas, codificadas e são enviadas. Quando são enviadas, a gente deixa no cadastro de resposta ou não, se está com necessidade.De respostas, a gente cobra as respostas, recebe a resposta e distribui para quem é de direito. Então é pra ter um paralelo. Quando eu cheguei, se tinha uma notificação de segurança do trabalho que Era Para Ser feita, o.o responsável por segurança de trabalho da vertical mandava um e-mail para o fornecedor e falava meu senhor você tem que usar EPI e é isso ficava um registro por e-mail sem controle sem nada então hoje o que que eu né a gente instituiu aqui você manda demanda para genteSe você quiser mandar a carta, se você não precisa mandar a carta, a gente redige a carta, mas fica a seu critério. A gente vai processar essa informação, montar uma carta. Se ele mandar a minuto, a gente é padroniza, a gente ajusta. Tudo isso a gente faz os.A coleta de assinatura de quem seja, então, se é uma carta que vai para o poder concedente, a coleta de assinatura é feita através da diretoria, se é uma contrato que é aqui para dentro da Engenharia de Plantação, a gente coleta com o gestor, faz o envio dessa carta, o protocolo e começa a seguir o acompanhamento, então.Hoje eu tenho controle de todas as cartas que saem da Engenharia de Plantação, é tenho o controle dos 263 contratos que a gente tem aqui na Engenharia de Plantação.E a gente vai vendo a evolução agora conforme a necessidade. Então os contratos são todos aqui, é selecionados, visualizados, acompanhados. Tem um aditivo que é para ser feito. Então lá no front vem a necessidade.Passa pra gente, a gente avalia. Se for o caso de consulta jurídico, a gente vai fazendo essa triangulação, é feita a requisição para suprimentos e o aditivo é feito. Então tudo hoje passa pela gente. Aqui é essas coisas, elas é, eu acho assim, tem.Tem coisas que você ganha velocidade descentralizando e tem coisas que se você descentralizar, você perde muito controle. Essa questão da gestão contratual, eu sempre, eu sempre é entendo que os caminhos são meio de via única. Quando você vai falar com o cliente.E quando você vai lá falar com o fornecedor, você pode ter reuniões de trabalho, você pode ter atas que formalizam alguma coisa ali, mas a comunicação é ponto a ponto. A gente tem um representante aqui, o fornecedor ou o cliente ou o poder consciente, tem um tem um representante lá e a gente faz esse canal e tudo isso fica.Mapeado, né? Hoje a gente não tem isso de forma sistêmica, não tem um sistema para usar isso. O processo está instituído, a gente usa muito Excel, usa ferramentas do Teams para questão de uso planner para a gente fazer de trabalho para ver se a carta está atrasada, se não.</a:t>
            </a:r>
          </a:p>
          <a:p>
            <a:pPr lvl="1">
              <a:defRPr sz="1200"/>
            </a:pPr>
            <a:r>
              <a:t>Joao Pedro Almeida da Rocha Pita   18:43Nós ainda fazemos muita manutenção através de manuais. Então se manda fazer manutenção a cada 100 mil horas você faz a cada 100 mil horas ou a cada 100 mil quilómetros, não interessa a mentira. Eu acho que a gente tem que sensorizar mais, ter mais Analytics para que a gente possaPreditivo e eu consiga fazer a manutenção quando realmente é preciso e não somente quando no manual manda. É isso tem um ganho no ciclo de vida dos equipamentos e da e das peças e dos componentes.Também vai ser um saving e, portanto, um aumento não é da do VPL dos negócios da Tiago dos próprios projetos. Eu acho que eu diria essas 2 coisas, não é na área da construção pesada, como é que nós conseguimos trazer novos equipamentos, novos ensinamentos, novos materiais. Acho que essa engenharia de materiais, ela é uma engenharia.Que tem evoluído muito com questões de carbono, polímeros, enfim, várias coisas. E na área da manutenção também é uma área super pesada que nós temos, seja em trilhos, seja em rodovias. A gente poder mais ser mais preditivo, então.ter dados, mensurar os dados e depois aplicar esses dados, mas estão eficientes a manutenção tem um alto impacto em Capex, então só em manutenção em trilhos por ano, são mais de 600 milhões, roda entre 600 e bilhão e em rodovias é mais ainda, então qualquer 6-25 a 10%, estamos aAqui de um saving muito significativo.Não sei se respondi à vossa pergunta, se tem algum.</a:t>
            </a:r>
          </a:p>
          <a:p>
            <a:pPr lvl="1">
              <a:defRPr sz="1200"/>
            </a:pPr>
            <a:r>
              <a:t>00:51:18 Flávio PimentelNa Área de novos negócios, na área de planejamento. Não que a gente vai entrar no planejamento em si, que a gente não tem braço para isso. Mas, por exemplo, na definição do manual de planejamento unificado para a motiva. A gente tem, e eu participei, em escrever o manual de planejamento lá em Trilhos.</a:t>
            </a:r>
          </a:p>
          <a:p>
            <a:pPr lvl="1">
              <a:defRPr sz="1200"/>
            </a:pPr>
            <a:r>
              <a:t>NELSON SOARES NETO   36:47É, eu sei assim, olha, eu sei de alguns processos, tá? Então assim, eu não, eu também, como tem o Ricardo e assim, eu acho que é uma ótima.Vantagem a gente ter um gerente executivo de engenharia nas unidades. Então, assim, isso muito fica na mão do Ricardo. O Ricardo traz para mim as dores dele e eu tento ajudar nos bastidores.Mas, por exemplo, nós demoramos muito para contratar as nossas reformas de BSO. Por quê? Porque suprimentos tomou uma decisão diferente da nossa lá.Hora.A decisão tem que ser da unidade, até porque a responsabilidade A Entrega é da unidade.Suprimentos tem que ser dono do processo e não da definição.Se eu falar que tal empresa tem que participar do processo? Tem que botar empresa? Não. Mas essa empresa não tem capacidade financeira. Eu não quero saber. Eu quero o preço dela. Ela tem que participar do processo.É, eu acho que é isso que assim, a decisão final tem que ser da unidade, porque o risco está lá, não está aqui em suprimentos, não está aqui em Jundiaí. Na hora que der o problema, quem vai responder é quem está lá na unidade.Não vai ficar em suprimentos, suprimentos não vai assumir essa responsabilidade.</a:t>
            </a:r>
          </a:p>
          <a:p>
            <a:pPr lvl="1">
              <a:defRPr sz="1200"/>
            </a:pPr>
            <a:r>
              <a:t>Patricia Muller Ramos Kusdra   7:19Não.A gente hoje a gente usa o v360 e SAP para lançar nota e lá para a criação da medição, daquelas que eu te falei que OCS que eu crio do CSC e de tecnologia, o time que demanda da gente abre um chamado no conecta para que a gente possa lançar.A criar missão e aí depois segue o fluxo normal de lançamento.Então são essas 3 ferramentas aí no conecta tem sim, não é padronizado, não é um processo, é bom porque no conecta o cliente ele abre e ele anexa uma planilha lá para mim criar medição. E aí não é um padrão, não tem como eu hoje pegar aquilo lá que vem do conecta.Alexandre e automatizar, porque a pessoa não cria um formulário para cada Medição, ela anexa uma planilha que tem várias coisas e ali falando um pouquinho lá do conecta do que eu recebo para criar a Medição, é que acontece.O que eu vejo como problema hoje tem muitos chamados que vêm com reto, que gera retrabalho. Tem chamado que a pessoa pede para mim criar a folha, só que não tem saldo no pedido, não tem vigência. Então eu não consigo criar a folha de registro. É o volume, ele concentra.Num final período ali perto do prazo máximo que eu posso criar folha, então ele tem um gargalo, está?E também a gente tem muita dificuldade na aprovação de ter que ficar cobrando o aprovador para que ele entre e aprove a folha de registro dele. Acho que eles devem ter ouvido bastante isso nas entrevistas.</a:t>
            </a:r>
          </a:p>
          <a:p>
            <a:pPr lvl="1">
              <a:defRPr sz="1200"/>
            </a:pPr>
            <a:r>
              <a:t>Priscila Galindo   7:25Não por exemplo, Tiago, acho que um bom exemplo do que você trouxe hoje foi uma pergunta que eu fiz para o Alexandre hoje, Alexandre, hoje, no mapeamento que a gente tem de entrevistas dentro do quorum que a gente está fazendo de análise do núcleo de Khamis, eu tenho as principais interfaces, então quando, por exemplo, eu entro na plataforma dede Moraes ou na plataforma de rodovias por exemplo eu vejo muito superficial então por exemplo a gente e vistor entrevistou a área de administração contratual por exemplo em trilhos que hoje está sendo né mapeada né desenhada e tudo mais e aí por exemplo Rodovias eu nem tenho essa área hoje né vamos dizer assimE aí, por exemplo, eu não entrei a fundo, por exemplo, que é, por exemplo, eu estou falando de administração contratual, porque o escopo da Engenharia gira muito em torno desse tema de administração contratual. E aí eu virei e falei assim, eu virei e falei, eu virei e falei assim, Alexandre, qual que é o limite de bateria? Porque, por exemplo, hoje eu tenho 11 análise.De entrevistas e tudo mais da Engenharia, que ela entrou muito no operacional. Ela Foi lá na plataforma, lá na ponta, desenhou como é que estava, como é que estava sendo os projetos, as dificuldades, não apiando só para a parte de medição, mas.É para outras coisas também, para outros vieses. É na no ponto deles. A gente nem conseguiu ainda olhar, porque o Alexandre vai disponibilizar ainda hoje o relatório da engenho. Então aí a gente vai olhar. E aí eu perguntei para Alexandre, eu falei, Alexandre, faz sentido a gente aproveitar o relatório da engenho?Ou você entende que a gente pega alguns projetos estratégicos e a gente aprofunda nesse ponto, porque para mim é um retrabalho. Eu já tenho uma consultoria que foi lá, fez as entrevistas, já mapeou todas essas necessidades.</a:t>
            </a:r>
          </a:p>
          <a:p>
            <a:pPr lvl="1">
              <a:defRPr sz="1200"/>
            </a:pPr>
            <a:r>
              <a:t>01:33:30 Letícia MadellaEles vão ter a reunião também de gestão de mudança com eles. Então, acho que vai ser um pouco mais seguro para isso. Isso, acho que é importante. Só para a gente fechar, para a gente dar também uma atualização, Aí é um ponto que eu preciso… Depois a gente puxou um papo em paralelo aqui para fazer isso, Mas assim, eu vou precisar desse nome, Esses nomes… Para poder ver com o pessoal aqui como é que a gente vai começar, etc. Porque a ideia é a gente ter, pelo menos, nem que seja uma versão pocket do onboarding, Mas só para a gente fazer aquele rito de, ó, você foi escolhido por isso, você está aqui para isso, A gente espera aquilo.</a:t>
            </a:r>
          </a:p>
          <a:p>
            <a:pPr lvl="1">
              <a:defRPr sz="1200"/>
            </a:pPr>
            <a:r>
              <a:t>Elmo Serejo Pithon Copello   3:55Ali para outubro. E aí eu fiquei na vertical de demais empreendimentos como gerente de projetos. Então hoje eu atuo com toda a elaboração de projetos básicos, executivos, conceituais, de todas as obras, empreendimentos, enfim, que a gente vai.Executar nas em todas as linhas que a gente tem, com exceção dos projetos de extensão, na extensão da linha 4 e extensão da linha 5 é, tô recente aqui em trilhos. Cheguei há quase um ano, mas de motiva. Já são 12 anos. Já passei pela plataforma de rodovias de aeroportos.E aí, de Geral Porto, eu vim para cá, era gerente de obras e agora estou com esse desafio de ficar na parte de projetos, tá? É hoje o que eu vejo aqui de na parte de projetos que eu tenho menos tempo, tenho 4 meses.Aproximadamente é, era uma estrutura, a própria estrutura. Ela era individualizada, vamos dizer assim, era muito carregada de especialistas. É e poucos generalistas, poucos analistas. Então ficava um projeto.Com diversos responsáveis, e isso dificultava demais rastreabilidade de informação, é tomada de decisão e até compatibilização dos projetos. Esse eu acho que é o meu gargalo principal hoje que eu estou tendo que resolver.problemas aí de anos anteriores por conta disso. O projeto se iniciava com a pessoa, mudava a disciplina, ia para outra pessoa e ia mudando de pessoas até que se concluiu um projeto que não era confiável. E a gente chega a nível de implantação, ao nível de contratação que a genteTem que ficar correndo atrás aqui de problemas de compatibilização, problemas que geram é situações de projetos que acabam gerando problemas contratuais ali na implantação, justamente por conta dessa falta de um responsável claro e definido.Para tocar esses projetos, é hoje. Essa é a minha maior dor aqui, é o que eu tenho tentado tratar. Estamos com poucos projetos novos, poucos contratos novos, então tá difícil de tentar organizar nesse sentido, mas esse é o.Qual o problema que eu tenho aqui hoje?</a:t>
            </a:r>
          </a:p>
          <a:p>
            <a:pPr lvl="1">
              <a:defRPr sz="1200"/>
            </a:pPr>
            <a:r>
              <a:t>00:47:01 Pedro SutterRodovia não, Rodovia tem uns cash cows lá, então eles conseguem… Enfim, deu ruim aqui, mas pô, tá vendo, tem isso aqui. É, porque a portfólio é grande. É grande e muito rentável.</a:t>
            </a:r>
          </a:p>
          <a:p>
            <a:pPr lvl="1">
              <a:defRPr sz="1200"/>
            </a:pPr>
            <a:r>
              <a:t>Alexandre Fontes Pereira   22:31Isso aí entra um tabelão, um excelzão lá, cada um, porque é meio meio cada um aqui popula é, eu acho que é isso, eu acho que é aquilo, aquilo lá pensa alguns temas e.E a lei eu acho que pode ter uma visão, cara, quais são, sei lá, os 10 principais riscos aqui do negócio? Como que a gente consegue é, em vez de sair discutindo um a um, como que a gente consegue ter uma visão mais clara?Daquilo que é, sabe? É os maiores impactos, maiores probabilidades, quando naqueles gráficos, é probabilidade e impacto que são bem comuns aí no mercado. É evolução de riscos.O João, como é que foi a evolução ou de 1 mês para o outro? A gente aumentou o risco da companhia ou mitigou?Porto os riscos maior por plataforma, por unidade de negócios não é por plataforma, o que?Ali daquele comitê, daquela galera como um todo, cara, é que preocupa mais que as áreas estão apontando de riscos. Está fazendo sentido? O comitê tinha uma forma de testar.Gente, vocês não estão vendo isso, vocês não estão vendo aquilo. É, eu sinto uma falta de ser mais propositivo e uma forma de a gente ter segurança que aquilo que é mais relevante para a companhia esteja ali sendo.Apontado ali, ali o formato não ajuda em nada, ele é meio aleatório, sabe? Os assuntos que são colocados, mesma coisa os grandes projetos, tá? Eu sentei aqui, aí eu acho que é isso, eu acho que aquilo tu coloquei.Passou todos. Eu fui, fui tentando, tentando dar um pouco mais de resumir, mas pode ser que alguma coisa passou, algum projeto jurídico que eu coloquei aqui não faça sentido.</a:t>
            </a:r>
          </a:p>
          <a:p>
            <a:pPr lvl="1">
              <a:defRPr sz="1200"/>
            </a:pPr>
            <a:r>
              <a:t>00:17:41 Fabiana AbritaBia, mas não funciona, você tem que alinhar para trazer um ponto de atenção. É verdade, ficou muito… Eu falei, ok, só que assim, demora. E assim, eu não estou sendo, não é uma auditoria, É só assim, gente, números que eu estou vendo, Está me cheirando que tem alguma coisa incoerente ou inconsistente.</a:t>
            </a:r>
          </a:p>
          <a:p>
            <a:pPr lvl="1">
              <a:defRPr sz="1200"/>
            </a:pPr>
            <a:r>
              <a:t>Vitor Pryzbeuka   50:25Ter muita iniciativa em paralelo com esse mesmo fim.</a:t>
            </a:r>
          </a:p>
          <a:p>
            <a:pPr lvl="1">
              <a:defRPr sz="1200"/>
            </a:pPr>
            <a:r>
              <a:t>Andre Luiz da Silva Pereira   43:27Isso, exatamente. Está tudo aqui na mesma planilha. Tá vendo que é uma planilha bem completa. E aí a lógica é basicamente a mesma. Aí a gente obviamente que tem a diferença do que o que é o econômico, que é o financeiro.Mas a gente também usa a mesma lógica, a gente compara aqui o que estava previsto para o mês, o que a gente realiza, e a gente também justifica que é tanto o mês quanto o acumulado, mas basicamente a.A forma como a gente alimenta as informações.Morais a mesma com conforme o conforme o econômico, tá? E aí a gente.</a:t>
            </a:r>
          </a:p>
          <a:p>
            <a:pPr lvl="1">
              <a:defRPr sz="1200"/>
            </a:pPr>
            <a:r>
              <a:t>Patricia Muller Ramos Kusdra   19:12Sentido, porque primeiro que ele onera totalmente a base do SAP e também ele onera o trabalho dele, o tempo que ele está fazendo e a gente recebe bastante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Conclusão: Impacto no Negócio</a:t>
            </a:r>
          </a:p>
        </p:txBody>
      </p:sp>
      <p:sp>
        <p:nvSpPr>
          <p:cNvPr id="3" name="Content Placeholder 2"/>
          <p:cNvSpPr>
            <a:spLocks noGrp="1"/>
          </p:cNvSpPr>
          <p:nvPr>
            <p:ph idx="1"/>
          </p:nvPr>
        </p:nvSpPr>
        <p:spPr/>
        <p:txBody>
          <a:bodyPr wrap="square"/>
          <a:lstStyle/>
          <a:p>
            <a:pPr/>
            <a:r>
              <a:t>A fragmentação atual impede uma 'Single Source of Truth'.</a:t>
            </a:r>
          </a:p>
          <a:p>
            <a:pPr/>
            <a:r>
              <a:t>O retrabalho em 'ETLs manuais' consome horas técnicas valiosas de engenharia.</a:t>
            </a:r>
          </a:p>
          <a:p>
            <a:pPr/>
            <a:r>
              <a:t>Existe um gap crítico de visibilidade de Tendência (Forecast) em tempo real.</a:t>
            </a:r>
          </a:p>
          <a:p>
            <a:pPr/>
            <a:r>
              <a:t>O diagnóstico micro prova que o problema não é a falta de sistemas, mas a falta de CONEXÃO entre eles.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